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Hoyos Toscano" userId="f696a549be9143e3" providerId="LiveId" clId="{59332D42-0773-465C-92CB-9E2073AEC025}"/>
    <pc:docChg chg="undo custSel addSld modSld">
      <pc:chgData name="Diana Hoyos Toscano" userId="f696a549be9143e3" providerId="LiveId" clId="{59332D42-0773-465C-92CB-9E2073AEC025}" dt="2026-03-01T14:59:29.868" v="23" actId="26606"/>
      <pc:docMkLst>
        <pc:docMk/>
      </pc:docMkLst>
      <pc:sldChg chg="modSp add mod modTransition modClrScheme chgLayout">
        <pc:chgData name="Diana Hoyos Toscano" userId="f696a549be9143e3" providerId="LiveId" clId="{59332D42-0773-465C-92CB-9E2073AEC025}" dt="2026-03-01T14:59:29.868" v="23" actId="26606"/>
        <pc:sldMkLst>
          <pc:docMk/>
          <pc:sldMk cId="4227272855" sldId="259"/>
        </pc:sldMkLst>
        <pc:spChg chg="mod">
          <ac:chgData name="Diana Hoyos Toscano" userId="f696a549be9143e3" providerId="LiveId" clId="{59332D42-0773-465C-92CB-9E2073AEC025}" dt="2026-03-01T14:59:29.868" v="23" actId="26606"/>
          <ac:spMkLst>
            <pc:docMk/>
            <pc:sldMk cId="4227272855" sldId="259"/>
            <ac:spMk id="2" creationId="{2E18DB73-4953-FC9C-65B8-381E00918D8A}"/>
          </ac:spMkLst>
        </pc:spChg>
        <pc:spChg chg="mod">
          <ac:chgData name="Diana Hoyos Toscano" userId="f696a549be9143e3" providerId="LiveId" clId="{59332D42-0773-465C-92CB-9E2073AEC025}" dt="2026-03-01T14:59:29.868" v="23" actId="26606"/>
          <ac:spMkLst>
            <pc:docMk/>
            <pc:sldMk cId="4227272855" sldId="259"/>
            <ac:spMk id="5" creationId="{4A186934-5465-438F-B1B7-07D6AC06608A}"/>
          </ac:spMkLst>
        </pc:spChg>
        <pc:picChg chg="mod ord">
          <ac:chgData name="Diana Hoyos Toscano" userId="f696a549be9143e3" providerId="LiveId" clId="{59332D42-0773-465C-92CB-9E2073AEC025}" dt="2026-03-01T14:59:29.868" v="23" actId="26606"/>
          <ac:picMkLst>
            <pc:docMk/>
            <pc:sldMk cId="4227272855" sldId="259"/>
            <ac:picMk id="4" creationId="{4C898FCF-04C0-45F5-AF12-129BAEAD855D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A57D9D-D6D5-40B1-9E45-AD8356C963DC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s-ES"/>
        </a:p>
      </dgm:t>
    </dgm:pt>
    <dgm:pt modelId="{F605E792-EB3D-4DE8-AD80-D97DF19AA78D}">
      <dgm:prSet/>
      <dgm:spPr/>
      <dgm:t>
        <a:bodyPr/>
        <a:lstStyle/>
        <a:p>
          <a:pPr>
            <a:defRPr b="1"/>
          </a:pPr>
          <a:r>
            <a:rPr lang="es"/>
            <a:t>Datos completos de reservas</a:t>
          </a:r>
        </a:p>
      </dgm:t>
    </dgm:pt>
    <dgm:pt modelId="{9B62FF13-00B3-4CEE-B677-8E116911BEFF}" type="parTrans" cxnId="{E08C4F9F-2A40-4C0A-85ED-62FE69186963}">
      <dgm:prSet/>
      <dgm:spPr/>
      <dgm:t>
        <a:bodyPr/>
        <a:lstStyle/>
        <a:p>
          <a:endParaRPr lang="es-ES"/>
        </a:p>
      </dgm:t>
    </dgm:pt>
    <dgm:pt modelId="{E28FB752-2AE4-496C-AC7A-46ADA06948D0}" type="sibTrans" cxnId="{E08C4F9F-2A40-4C0A-85ED-62FE69186963}">
      <dgm:prSet/>
      <dgm:spPr/>
      <dgm:t>
        <a:bodyPr/>
        <a:lstStyle/>
        <a:p>
          <a:pPr>
            <a:defRPr b="1"/>
          </a:pPr>
          <a:endParaRPr lang="es-ES"/>
        </a:p>
      </dgm:t>
    </dgm:pt>
    <dgm:pt modelId="{6F72BD8C-BDB8-4BB3-8BBA-DD9B5F54F9F8}">
      <dgm:prSet/>
      <dgm:spPr/>
      <dgm:t>
        <a:bodyPr/>
        <a:lstStyle/>
        <a:p>
          <a:r>
            <a:rPr lang="es"/>
            <a:t>El conjunto de datos incluye fechas de reserva, datos demográficos de clientes y estado de cancelación, proporcionando información sobre el comportamiento de las reservas.</a:t>
          </a:r>
        </a:p>
      </dgm:t>
    </dgm:pt>
    <dgm:pt modelId="{F2A7BA0A-F6F8-4C18-A646-1BA0A1DD7089}" type="parTrans" cxnId="{F6B49A57-0681-4EEF-82F3-BB4C4061C604}">
      <dgm:prSet/>
      <dgm:spPr/>
      <dgm:t>
        <a:bodyPr/>
        <a:lstStyle/>
        <a:p>
          <a:endParaRPr lang="es-ES"/>
        </a:p>
      </dgm:t>
    </dgm:pt>
    <dgm:pt modelId="{DB0C73F0-EFBD-4271-A77E-692A319E731E}" type="sibTrans" cxnId="{F6B49A57-0681-4EEF-82F3-BB4C4061C604}">
      <dgm:prSet/>
      <dgm:spPr/>
      <dgm:t>
        <a:bodyPr/>
        <a:lstStyle/>
        <a:p>
          <a:endParaRPr lang="es-ES"/>
        </a:p>
      </dgm:t>
    </dgm:pt>
    <dgm:pt modelId="{8E504E94-D5D1-47E1-AE73-0E6307255548}">
      <dgm:prSet/>
      <dgm:spPr/>
      <dgm:t>
        <a:bodyPr/>
        <a:lstStyle/>
        <a:p>
          <a:pPr>
            <a:defRPr b="1"/>
          </a:pPr>
          <a:r>
            <a:rPr lang="es"/>
            <a:t>Análisis de patrones de demanda</a:t>
          </a:r>
        </a:p>
      </dgm:t>
    </dgm:pt>
    <dgm:pt modelId="{D6B056C1-7E2E-40B0-862D-75993EBF2132}" type="parTrans" cxnId="{208C8907-BFE4-44B7-B17E-0E79B309F815}">
      <dgm:prSet/>
      <dgm:spPr/>
      <dgm:t>
        <a:bodyPr/>
        <a:lstStyle/>
        <a:p>
          <a:endParaRPr lang="es-ES"/>
        </a:p>
      </dgm:t>
    </dgm:pt>
    <dgm:pt modelId="{949F02F3-3618-452E-88BF-7A8E4EA4210D}" type="sibTrans" cxnId="{208C8907-BFE4-44B7-B17E-0E79B309F815}">
      <dgm:prSet/>
      <dgm:spPr/>
      <dgm:t>
        <a:bodyPr/>
        <a:lstStyle/>
        <a:p>
          <a:pPr>
            <a:defRPr b="1"/>
          </a:pPr>
          <a:endParaRPr lang="es-ES"/>
        </a:p>
      </dgm:t>
    </dgm:pt>
    <dgm:pt modelId="{6AA4A12E-30C1-44B8-9020-8B495C4A915A}">
      <dgm:prSet/>
      <dgm:spPr/>
      <dgm:t>
        <a:bodyPr/>
        <a:lstStyle/>
        <a:p>
          <a:r>
            <a:rPr lang="es"/>
            <a:t>El análisis de patrones como la estacionalidad y el tiempo de entrega ayuda a entender los factores que afectan a la demanda de reservas.</a:t>
          </a:r>
        </a:p>
      </dgm:t>
    </dgm:pt>
    <dgm:pt modelId="{01C70F16-26C4-487E-839B-3F4BCEC3DEDF}" type="parTrans" cxnId="{74F7DE22-FF79-4ED2-B964-7A225BD98042}">
      <dgm:prSet/>
      <dgm:spPr/>
      <dgm:t>
        <a:bodyPr/>
        <a:lstStyle/>
        <a:p>
          <a:endParaRPr lang="es-ES"/>
        </a:p>
      </dgm:t>
    </dgm:pt>
    <dgm:pt modelId="{0631FE88-89CE-462B-8B65-1AE89A0438F7}" type="sibTrans" cxnId="{74F7DE22-FF79-4ED2-B964-7A225BD98042}">
      <dgm:prSet/>
      <dgm:spPr/>
      <dgm:t>
        <a:bodyPr/>
        <a:lstStyle/>
        <a:p>
          <a:endParaRPr lang="es-ES"/>
        </a:p>
      </dgm:t>
    </dgm:pt>
    <dgm:pt modelId="{857A965F-ACB7-49D2-A648-1A378DB870ED}">
      <dgm:prSet/>
      <dgm:spPr/>
      <dgm:t>
        <a:bodyPr/>
        <a:lstStyle/>
        <a:p>
          <a:pPr>
            <a:defRPr b="1"/>
          </a:pPr>
          <a:r>
            <a:rPr lang="es"/>
            <a:t>Mejorando los resultados en hostelería</a:t>
          </a:r>
        </a:p>
      </dgm:t>
    </dgm:pt>
    <dgm:pt modelId="{1755E52F-703D-4AD0-BBAF-6B01FA85570D}" type="parTrans" cxnId="{60DDDA6D-88FC-4AFB-A926-38F8DF8EF47B}">
      <dgm:prSet/>
      <dgm:spPr/>
      <dgm:t>
        <a:bodyPr/>
        <a:lstStyle/>
        <a:p>
          <a:endParaRPr lang="es-ES"/>
        </a:p>
      </dgm:t>
    </dgm:pt>
    <dgm:pt modelId="{37B2E1FF-D78A-4698-9A4F-BCFEBB83A898}" type="sibTrans" cxnId="{60DDDA6D-88FC-4AFB-A926-38F8DF8EF47B}">
      <dgm:prSet/>
      <dgm:spPr/>
      <dgm:t>
        <a:bodyPr/>
        <a:lstStyle/>
        <a:p>
          <a:endParaRPr lang="es-ES"/>
        </a:p>
      </dgm:t>
    </dgm:pt>
    <dgm:pt modelId="{4720C844-30CD-4A01-A085-85C964B25FDA}">
      <dgm:prSet/>
      <dgm:spPr/>
      <dgm:t>
        <a:bodyPr/>
        <a:lstStyle/>
        <a:p>
          <a:r>
            <a:rPr lang="es"/>
            <a:t>La investigación con este conjunto de datos predice cancelaciones, optimiza precios y mejora la satisfacción del cliente en hoteles.</a:t>
          </a:r>
        </a:p>
      </dgm:t>
    </dgm:pt>
    <dgm:pt modelId="{9C2F081B-35CF-4D37-BB66-60EC15C9C21F}" type="parTrans" cxnId="{6ECF5963-95C0-4DB8-9AA5-4144B8B6422F}">
      <dgm:prSet/>
      <dgm:spPr/>
      <dgm:t>
        <a:bodyPr/>
        <a:lstStyle/>
        <a:p>
          <a:endParaRPr lang="es-ES"/>
        </a:p>
      </dgm:t>
    </dgm:pt>
    <dgm:pt modelId="{9484A15E-2A61-41E3-B6DF-61DDCBD0C30D}" type="sibTrans" cxnId="{6ECF5963-95C0-4DB8-9AA5-4144B8B6422F}">
      <dgm:prSet/>
      <dgm:spPr/>
      <dgm:t>
        <a:bodyPr/>
        <a:lstStyle/>
        <a:p>
          <a:endParaRPr lang="es-ES"/>
        </a:p>
      </dgm:t>
    </dgm:pt>
    <dgm:pt modelId="{7D6BEE53-3E11-47BF-BCDF-C23726CB32DF}" type="pres">
      <dgm:prSet presAssocID="{9DA57D9D-D6D5-40B1-9E45-AD8356C963DC}" presName="Root" presStyleCnt="0">
        <dgm:presLayoutVars>
          <dgm:dir/>
          <dgm:resizeHandles val="exact"/>
        </dgm:presLayoutVars>
      </dgm:prSet>
      <dgm:spPr/>
    </dgm:pt>
    <dgm:pt modelId="{389BA077-84CB-4538-B8AF-4710C9C1282A}" type="pres">
      <dgm:prSet presAssocID="{F605E792-EB3D-4DE8-AD80-D97DF19AA78D}" presName="Composite" presStyleCnt="0"/>
      <dgm:spPr/>
    </dgm:pt>
    <dgm:pt modelId="{1DFE9D5C-13E1-4DFF-965E-DA61DB28CC57}" type="pres">
      <dgm:prSet presAssocID="{F605E792-EB3D-4DE8-AD80-D97DF19AA78D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" b="31503"/>
          <a:stretch>
            <a:fillRect t="-23000" b="-23000"/>
          </a:stretch>
        </a:blipFill>
      </dgm:spPr>
      <dgm:extLst>
        <a:ext uri="{E40237B7-FDA0-4F09-8148-C483321AD2D9}">
          <dgm14:cNvPr xmlns:dgm14="http://schemas.microsoft.com/office/drawing/2010/diagram" id="0" name="" descr="Los resultados ya están aquí.  Todas excelentes notas."/>
        </a:ext>
      </dgm:extLst>
    </dgm:pt>
    <dgm:pt modelId="{889FB79E-1AE8-4EF5-8020-38C1D168BB02}" type="pres">
      <dgm:prSet presAssocID="{F605E792-EB3D-4DE8-AD80-D97DF19AA78D}" presName="Subtitle" presStyleLbl="revTx" presStyleIdx="0" presStyleCnt="6">
        <dgm:presLayoutVars>
          <dgm:chMax val="0"/>
          <dgm:bulletEnabled/>
        </dgm:presLayoutVars>
      </dgm:prSet>
      <dgm:spPr/>
    </dgm:pt>
    <dgm:pt modelId="{23126F7B-6824-4D78-B692-F9D1DC1E9A69}" type="pres">
      <dgm:prSet presAssocID="{F605E792-EB3D-4DE8-AD80-D97DF19AA78D}" presName="Description" presStyleLbl="revTx" presStyleIdx="1" presStyleCnt="6">
        <dgm:presLayoutVars>
          <dgm:bulletEnabled/>
        </dgm:presLayoutVars>
      </dgm:prSet>
      <dgm:spPr/>
    </dgm:pt>
    <dgm:pt modelId="{352ADE54-FB2A-47F7-8286-FF9811DDB552}" type="pres">
      <dgm:prSet presAssocID="{E28FB752-2AE4-496C-AC7A-46ADA06948D0}" presName="sibTrans" presStyleLbl="sibTrans2D1" presStyleIdx="0" presStyleCnt="0"/>
      <dgm:spPr/>
    </dgm:pt>
    <dgm:pt modelId="{A735109A-28A5-4461-AE51-34F4B3C3BEEC}" type="pres">
      <dgm:prSet presAssocID="{8E504E94-D5D1-47E1-AE73-0E6307255548}" presName="Composite" presStyleCnt="0"/>
      <dgm:spPr/>
    </dgm:pt>
    <dgm:pt modelId="{9526AC5D-E8D4-4F49-BA56-5A6D902139EA}" type="pres">
      <dgm:prSet presAssocID="{8E504E94-D5D1-47E1-AE73-0E6307255548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1" r="14827" b="-2"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Mujer comprando billetes de avión"/>
        </a:ext>
      </dgm:extLst>
    </dgm:pt>
    <dgm:pt modelId="{4256DB46-20C2-4CD7-9EE4-9FEA64DC84E2}" type="pres">
      <dgm:prSet presAssocID="{8E504E94-D5D1-47E1-AE73-0E6307255548}" presName="Subtitle" presStyleLbl="revTx" presStyleIdx="2" presStyleCnt="6">
        <dgm:presLayoutVars>
          <dgm:chMax val="0"/>
          <dgm:bulletEnabled/>
        </dgm:presLayoutVars>
      </dgm:prSet>
      <dgm:spPr/>
    </dgm:pt>
    <dgm:pt modelId="{A334C38F-C582-4F1D-8DF5-E3A305848A71}" type="pres">
      <dgm:prSet presAssocID="{8E504E94-D5D1-47E1-AE73-0E6307255548}" presName="Description" presStyleLbl="revTx" presStyleIdx="3" presStyleCnt="6">
        <dgm:presLayoutVars>
          <dgm:bulletEnabled/>
        </dgm:presLayoutVars>
      </dgm:prSet>
      <dgm:spPr/>
    </dgm:pt>
    <dgm:pt modelId="{D6B9E120-BA10-43DD-871C-2FAA429A12E9}" type="pres">
      <dgm:prSet presAssocID="{949F02F3-3618-452E-88BF-7A8E4EA4210D}" presName="sibTrans" presStyleLbl="sibTrans2D1" presStyleIdx="0" presStyleCnt="0"/>
      <dgm:spPr/>
    </dgm:pt>
    <dgm:pt modelId="{316CBC43-7975-4FCF-9997-F0C325A9D21C}" type="pres">
      <dgm:prSet presAssocID="{857A965F-ACB7-49D2-A648-1A378DB870ED}" presName="Composite" presStyleCnt="0"/>
      <dgm:spPr/>
    </dgm:pt>
    <dgm:pt modelId="{8A232625-5997-4C91-9A06-86552F50342F}" type="pres">
      <dgm:prSet presAssocID="{857A965F-ACB7-49D2-A648-1A378DB870ED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8" r="25537" b="-7"/>
          <a:stretch>
            <a:fillRect l="-24000" r="-24000"/>
          </a:stretch>
        </a:blipFill>
      </dgm:spPr>
      <dgm:extLst>
        <a:ext uri="{E40237B7-FDA0-4F09-8148-C483321AD2D9}">
          <dgm14:cNvPr xmlns:dgm14="http://schemas.microsoft.com/office/drawing/2010/diagram" id="0" name="" descr="Joven bebiendo cóctel en una habitación de hotel."/>
        </a:ext>
      </dgm:extLst>
    </dgm:pt>
    <dgm:pt modelId="{D4C8A85B-3F2C-4CD4-9CF1-110FE77EEE4C}" type="pres">
      <dgm:prSet presAssocID="{857A965F-ACB7-49D2-A648-1A378DB870ED}" presName="Subtitle" presStyleLbl="revTx" presStyleIdx="4" presStyleCnt="6">
        <dgm:presLayoutVars>
          <dgm:chMax val="0"/>
          <dgm:bulletEnabled/>
        </dgm:presLayoutVars>
      </dgm:prSet>
      <dgm:spPr/>
    </dgm:pt>
    <dgm:pt modelId="{A1E9555B-9FBB-4977-B006-55004380C51C}" type="pres">
      <dgm:prSet presAssocID="{857A965F-ACB7-49D2-A648-1A378DB870ED}" presName="Description" presStyleLbl="revTx" presStyleIdx="5" presStyleCnt="6">
        <dgm:presLayoutVars>
          <dgm:bulletEnabled/>
        </dgm:presLayoutVars>
      </dgm:prSet>
      <dgm:spPr/>
    </dgm:pt>
  </dgm:ptLst>
  <dgm:cxnLst>
    <dgm:cxn modelId="{9536C903-F204-4905-A7AE-C370CFD36559}" type="presOf" srcId="{9DA57D9D-D6D5-40B1-9E45-AD8356C963DC}" destId="{7D6BEE53-3E11-47BF-BCDF-C23726CB32DF}" srcOrd="0" destOrd="0" presId="urn:microsoft.com/office/officeart/2024/3/layout/verticalVisualTextBlock1"/>
    <dgm:cxn modelId="{208C8907-BFE4-44B7-B17E-0E79B309F815}" srcId="{9DA57D9D-D6D5-40B1-9E45-AD8356C963DC}" destId="{8E504E94-D5D1-47E1-AE73-0E6307255548}" srcOrd="1" destOrd="0" parTransId="{D6B056C1-7E2E-40B0-862D-75993EBF2132}" sibTransId="{949F02F3-3618-452E-88BF-7A8E4EA4210D}"/>
    <dgm:cxn modelId="{97640309-0EA5-4BFF-879C-805DC293226E}" type="presOf" srcId="{6AA4A12E-30C1-44B8-9020-8B495C4A915A}" destId="{A334C38F-C582-4F1D-8DF5-E3A305848A71}" srcOrd="0" destOrd="0" presId="urn:microsoft.com/office/officeart/2024/3/layout/verticalVisualTextBlock1"/>
    <dgm:cxn modelId="{AFD67821-CCBF-4155-8F8A-5C75711B5058}" type="presOf" srcId="{8E504E94-D5D1-47E1-AE73-0E6307255548}" destId="{4256DB46-20C2-4CD7-9EE4-9FEA64DC84E2}" srcOrd="0" destOrd="0" presId="urn:microsoft.com/office/officeart/2024/3/layout/verticalVisualTextBlock1"/>
    <dgm:cxn modelId="{74F7DE22-FF79-4ED2-B964-7A225BD98042}" srcId="{8E504E94-D5D1-47E1-AE73-0E6307255548}" destId="{6AA4A12E-30C1-44B8-9020-8B495C4A915A}" srcOrd="0" destOrd="0" parTransId="{01C70F16-26C4-487E-839B-3F4BCEC3DEDF}" sibTransId="{0631FE88-89CE-462B-8B65-1AE89A0438F7}"/>
    <dgm:cxn modelId="{4DD20A2F-87C8-4230-AB2A-00FAB797B1AA}" type="presOf" srcId="{4720C844-30CD-4A01-A085-85C964B25FDA}" destId="{A1E9555B-9FBB-4977-B006-55004380C51C}" srcOrd="0" destOrd="0" presId="urn:microsoft.com/office/officeart/2024/3/layout/verticalVisualTextBlock1"/>
    <dgm:cxn modelId="{6ECF5963-95C0-4DB8-9AA5-4144B8B6422F}" srcId="{857A965F-ACB7-49D2-A648-1A378DB870ED}" destId="{4720C844-30CD-4A01-A085-85C964B25FDA}" srcOrd="0" destOrd="0" parTransId="{9C2F081B-35CF-4D37-BB66-60EC15C9C21F}" sibTransId="{9484A15E-2A61-41E3-B6DF-61DDCBD0C30D}"/>
    <dgm:cxn modelId="{60DDDA6D-88FC-4AFB-A926-38F8DF8EF47B}" srcId="{9DA57D9D-D6D5-40B1-9E45-AD8356C963DC}" destId="{857A965F-ACB7-49D2-A648-1A378DB870ED}" srcOrd="2" destOrd="0" parTransId="{1755E52F-703D-4AD0-BBAF-6B01FA85570D}" sibTransId="{37B2E1FF-D78A-4698-9A4F-BCFEBB83A898}"/>
    <dgm:cxn modelId="{B3E6FF52-49F0-40D4-863D-64B31B600B7B}" type="presOf" srcId="{6F72BD8C-BDB8-4BB3-8BBA-DD9B5F54F9F8}" destId="{23126F7B-6824-4D78-B692-F9D1DC1E9A69}" srcOrd="0" destOrd="0" presId="urn:microsoft.com/office/officeart/2024/3/layout/verticalVisualTextBlock1"/>
    <dgm:cxn modelId="{F4002075-C9E7-4192-8E13-97DDDE9725D2}" type="presOf" srcId="{F605E792-EB3D-4DE8-AD80-D97DF19AA78D}" destId="{889FB79E-1AE8-4EF5-8020-38C1D168BB02}" srcOrd="0" destOrd="0" presId="urn:microsoft.com/office/officeart/2024/3/layout/verticalVisualTextBlock1"/>
    <dgm:cxn modelId="{F6B49A57-0681-4EEF-82F3-BB4C4061C604}" srcId="{F605E792-EB3D-4DE8-AD80-D97DF19AA78D}" destId="{6F72BD8C-BDB8-4BB3-8BBA-DD9B5F54F9F8}" srcOrd="0" destOrd="0" parTransId="{F2A7BA0A-F6F8-4C18-A646-1BA0A1DD7089}" sibTransId="{DB0C73F0-EFBD-4271-A77E-692A319E731E}"/>
    <dgm:cxn modelId="{70CD2593-762F-49F5-8234-09E442C6D726}" type="presOf" srcId="{857A965F-ACB7-49D2-A648-1A378DB870ED}" destId="{D4C8A85B-3F2C-4CD4-9CF1-110FE77EEE4C}" srcOrd="0" destOrd="0" presId="urn:microsoft.com/office/officeart/2024/3/layout/verticalVisualTextBlock1"/>
    <dgm:cxn modelId="{E08C4F9F-2A40-4C0A-85ED-62FE69186963}" srcId="{9DA57D9D-D6D5-40B1-9E45-AD8356C963DC}" destId="{F605E792-EB3D-4DE8-AD80-D97DF19AA78D}" srcOrd="0" destOrd="0" parTransId="{9B62FF13-00B3-4CEE-B677-8E116911BEFF}" sibTransId="{E28FB752-2AE4-496C-AC7A-46ADA06948D0}"/>
    <dgm:cxn modelId="{465F25B2-F4BB-428E-BB01-37F027CD3FE8}" type="presOf" srcId="{E28FB752-2AE4-496C-AC7A-46ADA06948D0}" destId="{352ADE54-FB2A-47F7-8286-FF9811DDB552}" srcOrd="0" destOrd="0" presId="urn:microsoft.com/office/officeart/2024/3/layout/verticalVisualTextBlock1"/>
    <dgm:cxn modelId="{4CA6E1FE-6D6C-45C9-816F-0F3C67847167}" type="presOf" srcId="{949F02F3-3618-452E-88BF-7A8E4EA4210D}" destId="{D6B9E120-BA10-43DD-871C-2FAA429A12E9}" srcOrd="0" destOrd="0" presId="urn:microsoft.com/office/officeart/2024/3/layout/verticalVisualTextBlock1"/>
    <dgm:cxn modelId="{E03229DA-8CC3-4FB7-A55E-6D6F3DF7F2A0}" type="presParOf" srcId="{7D6BEE53-3E11-47BF-BCDF-C23726CB32DF}" destId="{389BA077-84CB-4538-B8AF-4710C9C1282A}" srcOrd="0" destOrd="0" presId="urn:microsoft.com/office/officeart/2024/3/layout/verticalVisualTextBlock1"/>
    <dgm:cxn modelId="{2D377A50-62BF-4236-A253-3D0593BC501E}" type="presParOf" srcId="{389BA077-84CB-4538-B8AF-4710C9C1282A}" destId="{1DFE9D5C-13E1-4DFF-965E-DA61DB28CC57}" srcOrd="0" destOrd="0" presId="urn:microsoft.com/office/officeart/2024/3/layout/verticalVisualTextBlock1"/>
    <dgm:cxn modelId="{F6A2F2C0-C717-4040-A81C-38EB793851C9}" type="presParOf" srcId="{389BA077-84CB-4538-B8AF-4710C9C1282A}" destId="{889FB79E-1AE8-4EF5-8020-38C1D168BB02}" srcOrd="1" destOrd="0" presId="urn:microsoft.com/office/officeart/2024/3/layout/verticalVisualTextBlock1"/>
    <dgm:cxn modelId="{37D61842-6BA6-448C-A89E-4FDB933568D5}" type="presParOf" srcId="{389BA077-84CB-4538-B8AF-4710C9C1282A}" destId="{23126F7B-6824-4D78-B692-F9D1DC1E9A69}" srcOrd="2" destOrd="0" presId="urn:microsoft.com/office/officeart/2024/3/layout/verticalVisualTextBlock1"/>
    <dgm:cxn modelId="{71358481-67E7-4C8C-A356-A94E34F4D253}" type="presParOf" srcId="{7D6BEE53-3E11-47BF-BCDF-C23726CB32DF}" destId="{352ADE54-FB2A-47F7-8286-FF9811DDB552}" srcOrd="1" destOrd="0" presId="urn:microsoft.com/office/officeart/2024/3/layout/verticalVisualTextBlock1"/>
    <dgm:cxn modelId="{80861FC2-DF42-4F29-AE90-61B781329910}" type="presParOf" srcId="{7D6BEE53-3E11-47BF-BCDF-C23726CB32DF}" destId="{A735109A-28A5-4461-AE51-34F4B3C3BEEC}" srcOrd="2" destOrd="0" presId="urn:microsoft.com/office/officeart/2024/3/layout/verticalVisualTextBlock1"/>
    <dgm:cxn modelId="{198379AB-AB99-445E-A1E2-361F324746DF}" type="presParOf" srcId="{A735109A-28A5-4461-AE51-34F4B3C3BEEC}" destId="{9526AC5D-E8D4-4F49-BA56-5A6D902139EA}" srcOrd="0" destOrd="0" presId="urn:microsoft.com/office/officeart/2024/3/layout/verticalVisualTextBlock1"/>
    <dgm:cxn modelId="{80B549CA-7347-4B11-A3C0-2EC6F17694F2}" type="presParOf" srcId="{A735109A-28A5-4461-AE51-34F4B3C3BEEC}" destId="{4256DB46-20C2-4CD7-9EE4-9FEA64DC84E2}" srcOrd="1" destOrd="0" presId="urn:microsoft.com/office/officeart/2024/3/layout/verticalVisualTextBlock1"/>
    <dgm:cxn modelId="{682683A9-7640-4331-8666-C788A7D1B161}" type="presParOf" srcId="{A735109A-28A5-4461-AE51-34F4B3C3BEEC}" destId="{A334C38F-C582-4F1D-8DF5-E3A305848A71}" srcOrd="2" destOrd="0" presId="urn:microsoft.com/office/officeart/2024/3/layout/verticalVisualTextBlock1"/>
    <dgm:cxn modelId="{A6384115-5602-4FDD-9FF4-A15F6717E7AB}" type="presParOf" srcId="{7D6BEE53-3E11-47BF-BCDF-C23726CB32DF}" destId="{D6B9E120-BA10-43DD-871C-2FAA429A12E9}" srcOrd="3" destOrd="0" presId="urn:microsoft.com/office/officeart/2024/3/layout/verticalVisualTextBlock1"/>
    <dgm:cxn modelId="{056B6016-6B67-494B-A6A4-3BE48BDA3C12}" type="presParOf" srcId="{7D6BEE53-3E11-47BF-BCDF-C23726CB32DF}" destId="{316CBC43-7975-4FCF-9997-F0C325A9D21C}" srcOrd="4" destOrd="0" presId="urn:microsoft.com/office/officeart/2024/3/layout/verticalVisualTextBlock1"/>
    <dgm:cxn modelId="{3156C772-2B26-4E9E-B3BA-7B44589B2627}" type="presParOf" srcId="{316CBC43-7975-4FCF-9997-F0C325A9D21C}" destId="{8A232625-5997-4C91-9A06-86552F50342F}" srcOrd="0" destOrd="0" presId="urn:microsoft.com/office/officeart/2024/3/layout/verticalVisualTextBlock1"/>
    <dgm:cxn modelId="{75953E3A-2A5D-49B3-951A-711BA9E0FAF6}" type="presParOf" srcId="{316CBC43-7975-4FCF-9997-F0C325A9D21C}" destId="{D4C8A85B-3F2C-4CD4-9CF1-110FE77EEE4C}" srcOrd="1" destOrd="0" presId="urn:microsoft.com/office/officeart/2024/3/layout/verticalVisualTextBlock1"/>
    <dgm:cxn modelId="{4598E3B6-DFEB-49B1-A1EC-610E4B1B17C9}" type="presParOf" srcId="{316CBC43-7975-4FCF-9997-F0C325A9D21C}" destId="{A1E9555B-9FBB-4977-B006-55004380C51C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FE368F-8602-46F6-89D1-151CF50B4CBA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E66E3E28-7270-4F48-B2B2-E4F20C42D4E1}">
      <dgm:prSet/>
      <dgm:spPr/>
      <dgm:t>
        <a:bodyPr/>
        <a:lstStyle/>
        <a:p>
          <a:pPr>
            <a:defRPr b="1"/>
          </a:pPr>
          <a:r>
            <a:rPr lang="es-ES"/>
            <a:t>Tratamiento de valores faltantes</a:t>
          </a:r>
        </a:p>
      </dgm:t>
    </dgm:pt>
    <dgm:pt modelId="{B7C6682E-105F-40BB-A3F3-8F4EF917C8B5}" type="parTrans" cxnId="{129EA37D-A1D2-48C2-A7AF-2069FF137EB0}">
      <dgm:prSet/>
      <dgm:spPr/>
      <dgm:t>
        <a:bodyPr/>
        <a:lstStyle/>
        <a:p>
          <a:endParaRPr lang="es-ES"/>
        </a:p>
      </dgm:t>
    </dgm:pt>
    <dgm:pt modelId="{629C6EB3-BC3D-4BEE-910F-7EF232B774A6}" type="sibTrans" cxnId="{129EA37D-A1D2-48C2-A7AF-2069FF137EB0}">
      <dgm:prSet/>
      <dgm:spPr/>
      <dgm:t>
        <a:bodyPr/>
        <a:lstStyle/>
        <a:p>
          <a:pPr>
            <a:defRPr b="1"/>
          </a:pPr>
          <a:endParaRPr lang="es-ES"/>
        </a:p>
      </dgm:t>
    </dgm:pt>
    <dgm:pt modelId="{566A2A45-EB8E-4FAE-B6ED-B9B19FC876DD}">
      <dgm:prSet/>
      <dgm:spPr/>
      <dgm:t>
        <a:bodyPr/>
        <a:lstStyle/>
        <a:p>
          <a:r>
            <a:rPr lang="es-ES"/>
            <a:t>Se emplearon métodos apropiados para manejar los valores faltantes, asegurando la integridad y coherencia de los datos.</a:t>
          </a:r>
        </a:p>
      </dgm:t>
    </dgm:pt>
    <dgm:pt modelId="{550E3779-4706-4093-81E5-A3A67AF79096}" type="parTrans" cxnId="{32A0D654-3B62-4E32-88B7-B219AA2ABE9F}">
      <dgm:prSet/>
      <dgm:spPr/>
      <dgm:t>
        <a:bodyPr/>
        <a:lstStyle/>
        <a:p>
          <a:endParaRPr lang="es-ES"/>
        </a:p>
      </dgm:t>
    </dgm:pt>
    <dgm:pt modelId="{B93DB7D3-6376-4BBF-A777-A473761D8556}" type="sibTrans" cxnId="{32A0D654-3B62-4E32-88B7-B219AA2ABE9F}">
      <dgm:prSet/>
      <dgm:spPr/>
      <dgm:t>
        <a:bodyPr/>
        <a:lstStyle/>
        <a:p>
          <a:endParaRPr lang="es-ES"/>
        </a:p>
      </dgm:t>
    </dgm:pt>
    <dgm:pt modelId="{1D3A822A-F421-4815-A825-45A241DC5395}">
      <dgm:prSet/>
      <dgm:spPr/>
      <dgm:t>
        <a:bodyPr/>
        <a:lstStyle/>
        <a:p>
          <a:pPr>
            <a:defRPr b="1"/>
          </a:pPr>
          <a:r>
            <a:rPr lang="es-ES"/>
            <a:t>Eliminación de duplicados</a:t>
          </a:r>
        </a:p>
      </dgm:t>
    </dgm:pt>
    <dgm:pt modelId="{DB8BAA78-924B-4CBD-B858-684E11006E32}" type="parTrans" cxnId="{4C35299A-12D0-41FE-A466-2A0231D415D0}">
      <dgm:prSet/>
      <dgm:spPr/>
      <dgm:t>
        <a:bodyPr/>
        <a:lstStyle/>
        <a:p>
          <a:endParaRPr lang="es-ES"/>
        </a:p>
      </dgm:t>
    </dgm:pt>
    <dgm:pt modelId="{CA824C28-8341-4207-99A7-A054E29B4CBD}" type="sibTrans" cxnId="{4C35299A-12D0-41FE-A466-2A0231D415D0}">
      <dgm:prSet/>
      <dgm:spPr/>
      <dgm:t>
        <a:bodyPr/>
        <a:lstStyle/>
        <a:p>
          <a:pPr>
            <a:defRPr b="1"/>
          </a:pPr>
          <a:endParaRPr lang="es-ES"/>
        </a:p>
      </dgm:t>
    </dgm:pt>
    <dgm:pt modelId="{7DAED996-483C-4B3C-87B2-E8B81BD524E6}">
      <dgm:prSet/>
      <dgm:spPr/>
      <dgm:t>
        <a:bodyPr/>
        <a:lstStyle/>
        <a:p>
          <a:r>
            <a:rPr lang="es-ES"/>
            <a:t>Se identificaron y eliminaron registros duplicados para evitar sesgos y mejorar la calidad de los resultados.</a:t>
          </a:r>
        </a:p>
      </dgm:t>
    </dgm:pt>
    <dgm:pt modelId="{C79EF01F-8A75-4A51-99CB-5D7A25B4F309}" type="parTrans" cxnId="{7035C6E4-CD48-4D57-B95A-312B0629B39A}">
      <dgm:prSet/>
      <dgm:spPr/>
      <dgm:t>
        <a:bodyPr/>
        <a:lstStyle/>
        <a:p>
          <a:endParaRPr lang="es-ES"/>
        </a:p>
      </dgm:t>
    </dgm:pt>
    <dgm:pt modelId="{82300E63-D1EC-4D19-9089-9FF22E4F2EC0}" type="sibTrans" cxnId="{7035C6E4-CD48-4D57-B95A-312B0629B39A}">
      <dgm:prSet/>
      <dgm:spPr/>
      <dgm:t>
        <a:bodyPr/>
        <a:lstStyle/>
        <a:p>
          <a:endParaRPr lang="es-ES"/>
        </a:p>
      </dgm:t>
    </dgm:pt>
    <dgm:pt modelId="{898D85B1-773F-483A-B0AD-3EB75D4B4B51}">
      <dgm:prSet/>
      <dgm:spPr/>
      <dgm:t>
        <a:bodyPr/>
        <a:lstStyle/>
        <a:p>
          <a:pPr>
            <a:defRPr b="1"/>
          </a:pPr>
          <a:r>
            <a:rPr lang="es-ES"/>
            <a:t>Encoding y escalado</a:t>
          </a:r>
        </a:p>
      </dgm:t>
    </dgm:pt>
    <dgm:pt modelId="{12BBEABF-019A-45A7-A0A6-FC3B8EA472E7}" type="parTrans" cxnId="{58152662-24F1-428A-A056-449DC97DFD53}">
      <dgm:prSet/>
      <dgm:spPr/>
      <dgm:t>
        <a:bodyPr/>
        <a:lstStyle/>
        <a:p>
          <a:endParaRPr lang="es-ES"/>
        </a:p>
      </dgm:t>
    </dgm:pt>
    <dgm:pt modelId="{F1377B9B-D4C4-44AD-9803-896B82A5267F}" type="sibTrans" cxnId="{58152662-24F1-428A-A056-449DC97DFD53}">
      <dgm:prSet/>
      <dgm:spPr/>
      <dgm:t>
        <a:bodyPr/>
        <a:lstStyle/>
        <a:p>
          <a:endParaRPr lang="es-ES"/>
        </a:p>
      </dgm:t>
    </dgm:pt>
    <dgm:pt modelId="{013818BD-8DE1-4F96-AABC-74AB98B72119}">
      <dgm:prSet/>
      <dgm:spPr/>
      <dgm:t>
        <a:bodyPr/>
        <a:lstStyle/>
        <a:p>
          <a:r>
            <a:rPr lang="es-ES"/>
            <a:t>Las variables categóricas fueron codificadas y se aplicó escalado o normalización a los datos, según correspondía.</a:t>
          </a:r>
        </a:p>
      </dgm:t>
    </dgm:pt>
    <dgm:pt modelId="{2489C86A-D1A8-4585-8541-4FAF8920D206}" type="parTrans" cxnId="{D7C68F06-D245-4A7C-B427-633240EB2B2A}">
      <dgm:prSet/>
      <dgm:spPr/>
      <dgm:t>
        <a:bodyPr/>
        <a:lstStyle/>
        <a:p>
          <a:endParaRPr lang="es-ES"/>
        </a:p>
      </dgm:t>
    </dgm:pt>
    <dgm:pt modelId="{E7C1D4B7-DEEB-40BC-BA88-E7EC91212448}" type="sibTrans" cxnId="{D7C68F06-D245-4A7C-B427-633240EB2B2A}">
      <dgm:prSet/>
      <dgm:spPr/>
      <dgm:t>
        <a:bodyPr/>
        <a:lstStyle/>
        <a:p>
          <a:endParaRPr lang="es-ES"/>
        </a:p>
      </dgm:t>
    </dgm:pt>
    <dgm:pt modelId="{5D47DBB2-D2C1-429E-8843-CBB485BD7653}" type="pres">
      <dgm:prSet presAssocID="{DFFE368F-8602-46F6-89D1-151CF50B4CBA}" presName="Root" presStyleCnt="0">
        <dgm:presLayoutVars>
          <dgm:dir/>
          <dgm:resizeHandles val="exact"/>
        </dgm:presLayoutVars>
      </dgm:prSet>
      <dgm:spPr/>
    </dgm:pt>
    <dgm:pt modelId="{47227B24-C111-490D-88AD-13C09053D883}" type="pres">
      <dgm:prSet presAssocID="{E66E3E28-7270-4F48-B2B2-E4F20C42D4E1}" presName="Composite" presStyleCnt="0"/>
      <dgm:spPr/>
    </dgm:pt>
    <dgm:pt modelId="{5D176094-9F4D-40B4-98D9-731EDEED9DE4}" type="pres">
      <dgm:prSet presAssocID="{E66E3E28-7270-4F48-B2B2-E4F20C42D4E1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" r="31309" b="-2"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Números y finanzas"/>
        </a:ext>
      </dgm:extLst>
    </dgm:pt>
    <dgm:pt modelId="{461D1071-5BE1-4C5E-97E4-749B9BAE8FA4}" type="pres">
      <dgm:prSet presAssocID="{E66E3E28-7270-4F48-B2B2-E4F20C42D4E1}" presName="Subtitle" presStyleLbl="revTx" presStyleIdx="0" presStyleCnt="6">
        <dgm:presLayoutVars>
          <dgm:chMax val="0"/>
          <dgm:bulletEnabled/>
        </dgm:presLayoutVars>
      </dgm:prSet>
      <dgm:spPr/>
    </dgm:pt>
    <dgm:pt modelId="{3D36CC22-5C02-43E7-A083-1EB1D7185EF0}" type="pres">
      <dgm:prSet presAssocID="{E66E3E28-7270-4F48-B2B2-E4F20C42D4E1}" presName="Description" presStyleLbl="revTx" presStyleIdx="1" presStyleCnt="6">
        <dgm:presLayoutVars>
          <dgm:bulletEnabled/>
        </dgm:presLayoutVars>
      </dgm:prSet>
      <dgm:spPr/>
    </dgm:pt>
    <dgm:pt modelId="{165EF2D8-8565-4286-B7B1-F9F7E6198621}" type="pres">
      <dgm:prSet presAssocID="{629C6EB3-BC3D-4BEE-910F-7EF232B774A6}" presName="sibTrans" presStyleLbl="sibTrans2D1" presStyleIdx="0" presStyleCnt="0"/>
      <dgm:spPr/>
    </dgm:pt>
    <dgm:pt modelId="{6F36E1AE-02A1-40F0-A4DF-4F5B4D5170FC}" type="pres">
      <dgm:prSet presAssocID="{1D3A822A-F421-4815-A825-45A241DC5395}" presName="Composite" presStyleCnt="0"/>
      <dgm:spPr/>
    </dgm:pt>
    <dgm:pt modelId="{1686D33E-E5EE-4791-8ADE-238BC35FC93B}" type="pres">
      <dgm:prSet presAssocID="{1D3A822A-F421-4815-A825-45A241DC5395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49" r="1" b="2"/>
          <a:stretch>
            <a:fillRect t="-4000" b="-4000"/>
          </a:stretch>
        </a:blipFill>
      </dgm:spPr>
      <dgm:extLst>
        <a:ext uri="{E40237B7-FDA0-4F09-8148-C483321AD2D9}">
          <dgm14:cNvPr xmlns:dgm14="http://schemas.microsoft.com/office/drawing/2010/diagram" id="0" name="" descr="Interior moderno de sala de servidores, superordenador, sala de servidores, centro de datos, centro de seguridad de datos."/>
        </a:ext>
      </dgm:extLst>
    </dgm:pt>
    <dgm:pt modelId="{01FAC5E2-40ED-4DEA-A22F-AE6AC9B76D52}" type="pres">
      <dgm:prSet presAssocID="{1D3A822A-F421-4815-A825-45A241DC5395}" presName="Subtitle" presStyleLbl="revTx" presStyleIdx="2" presStyleCnt="6">
        <dgm:presLayoutVars>
          <dgm:chMax val="0"/>
          <dgm:bulletEnabled/>
        </dgm:presLayoutVars>
      </dgm:prSet>
      <dgm:spPr/>
    </dgm:pt>
    <dgm:pt modelId="{21EB9EC8-25B6-4244-B8D2-7A7CF0D687E2}" type="pres">
      <dgm:prSet presAssocID="{1D3A822A-F421-4815-A825-45A241DC5395}" presName="Description" presStyleLbl="revTx" presStyleIdx="3" presStyleCnt="6">
        <dgm:presLayoutVars>
          <dgm:bulletEnabled/>
        </dgm:presLayoutVars>
      </dgm:prSet>
      <dgm:spPr/>
    </dgm:pt>
    <dgm:pt modelId="{757A8FFD-DB68-4B41-94C9-4F808433DAB3}" type="pres">
      <dgm:prSet presAssocID="{CA824C28-8341-4207-99A7-A054E29B4CBD}" presName="sibTrans" presStyleLbl="sibTrans2D1" presStyleIdx="0" presStyleCnt="0"/>
      <dgm:spPr/>
    </dgm:pt>
    <dgm:pt modelId="{E9FAB812-6F6B-4959-9AAA-094E31D0C1AC}" type="pres">
      <dgm:prSet presAssocID="{898D85B1-773F-483A-B0AD-3EB75D4B4B51}" presName="Composite" presStyleCnt="0"/>
      <dgm:spPr/>
    </dgm:pt>
    <dgm:pt modelId="{37F0D5ED-BFC2-4BD4-850C-57CB222AD8B9}" type="pres">
      <dgm:prSet presAssocID="{898D85B1-773F-483A-B0AD-3EB75D4B4B51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98" r="6" b="6"/>
          <a:stretch>
            <a:fillRect l="-32000" r="-32000"/>
          </a:stretch>
        </a:blipFill>
      </dgm:spPr>
      <dgm:extLst>
        <a:ext uri="{E40237B7-FDA0-4F09-8148-C483321AD2D9}">
          <dgm14:cNvPr xmlns:dgm14="http://schemas.microsoft.com/office/drawing/2010/diagram" id="0" name="" descr="Código binario abstracto de programa y cubo de matriz coloreada Base de datos"/>
        </a:ext>
      </dgm:extLst>
    </dgm:pt>
    <dgm:pt modelId="{2F145017-6570-4040-B555-3DB669AECDC2}" type="pres">
      <dgm:prSet presAssocID="{898D85B1-773F-483A-B0AD-3EB75D4B4B51}" presName="Subtitle" presStyleLbl="revTx" presStyleIdx="4" presStyleCnt="6">
        <dgm:presLayoutVars>
          <dgm:chMax val="0"/>
          <dgm:bulletEnabled/>
        </dgm:presLayoutVars>
      </dgm:prSet>
      <dgm:spPr/>
    </dgm:pt>
    <dgm:pt modelId="{1444F70E-997A-44D9-AD5A-E760C1638CC1}" type="pres">
      <dgm:prSet presAssocID="{898D85B1-773F-483A-B0AD-3EB75D4B4B51}" presName="Description" presStyleLbl="revTx" presStyleIdx="5" presStyleCnt="6">
        <dgm:presLayoutVars>
          <dgm:bulletEnabled/>
        </dgm:presLayoutVars>
      </dgm:prSet>
      <dgm:spPr/>
    </dgm:pt>
  </dgm:ptLst>
  <dgm:cxnLst>
    <dgm:cxn modelId="{D7C68F06-D245-4A7C-B427-633240EB2B2A}" srcId="{898D85B1-773F-483A-B0AD-3EB75D4B4B51}" destId="{013818BD-8DE1-4F96-AABC-74AB98B72119}" srcOrd="0" destOrd="0" parTransId="{2489C86A-D1A8-4585-8541-4FAF8920D206}" sibTransId="{E7C1D4B7-DEEB-40BC-BA88-E7EC91212448}"/>
    <dgm:cxn modelId="{2D349C36-AA77-408C-B084-AB7C97A03C67}" type="presOf" srcId="{DFFE368F-8602-46F6-89D1-151CF50B4CBA}" destId="{5D47DBB2-D2C1-429E-8843-CBB485BD7653}" srcOrd="0" destOrd="0" presId="urn:microsoft.com/office/officeart/2024/3/layout/verticalVisualTextBlock1"/>
    <dgm:cxn modelId="{F9E2B85E-76CD-4ED3-B3E1-D5E59E8516F1}" type="presOf" srcId="{1D3A822A-F421-4815-A825-45A241DC5395}" destId="{01FAC5E2-40ED-4DEA-A22F-AE6AC9B76D52}" srcOrd="0" destOrd="0" presId="urn:microsoft.com/office/officeart/2024/3/layout/verticalVisualTextBlock1"/>
    <dgm:cxn modelId="{58152662-24F1-428A-A056-449DC97DFD53}" srcId="{DFFE368F-8602-46F6-89D1-151CF50B4CBA}" destId="{898D85B1-773F-483A-B0AD-3EB75D4B4B51}" srcOrd="2" destOrd="0" parTransId="{12BBEABF-019A-45A7-A0A6-FC3B8EA472E7}" sibTransId="{F1377B9B-D4C4-44AD-9803-896B82A5267F}"/>
    <dgm:cxn modelId="{49A3D84A-D658-4E3E-B41D-67226424B919}" type="presOf" srcId="{566A2A45-EB8E-4FAE-B6ED-B9B19FC876DD}" destId="{3D36CC22-5C02-43E7-A083-1EB1D7185EF0}" srcOrd="0" destOrd="0" presId="urn:microsoft.com/office/officeart/2024/3/layout/verticalVisualTextBlock1"/>
    <dgm:cxn modelId="{32A0D654-3B62-4E32-88B7-B219AA2ABE9F}" srcId="{E66E3E28-7270-4F48-B2B2-E4F20C42D4E1}" destId="{566A2A45-EB8E-4FAE-B6ED-B9B19FC876DD}" srcOrd="0" destOrd="0" parTransId="{550E3779-4706-4093-81E5-A3A67AF79096}" sibTransId="{B93DB7D3-6376-4BBF-A777-A473761D8556}"/>
    <dgm:cxn modelId="{7B29F276-72E4-4254-84B9-D2CB1D30AC8D}" type="presOf" srcId="{898D85B1-773F-483A-B0AD-3EB75D4B4B51}" destId="{2F145017-6570-4040-B555-3DB669AECDC2}" srcOrd="0" destOrd="0" presId="urn:microsoft.com/office/officeart/2024/3/layout/verticalVisualTextBlock1"/>
    <dgm:cxn modelId="{129EA37D-A1D2-48C2-A7AF-2069FF137EB0}" srcId="{DFFE368F-8602-46F6-89D1-151CF50B4CBA}" destId="{E66E3E28-7270-4F48-B2B2-E4F20C42D4E1}" srcOrd="0" destOrd="0" parTransId="{B7C6682E-105F-40BB-A3F3-8F4EF917C8B5}" sibTransId="{629C6EB3-BC3D-4BEE-910F-7EF232B774A6}"/>
    <dgm:cxn modelId="{8C640B85-6A88-4B30-B9CA-44EFAA175EAD}" type="presOf" srcId="{013818BD-8DE1-4F96-AABC-74AB98B72119}" destId="{1444F70E-997A-44D9-AD5A-E760C1638CC1}" srcOrd="0" destOrd="0" presId="urn:microsoft.com/office/officeart/2024/3/layout/verticalVisualTextBlock1"/>
    <dgm:cxn modelId="{C9539A95-3F2C-4C51-8CDD-527642EE3ACD}" type="presOf" srcId="{7DAED996-483C-4B3C-87B2-E8B81BD524E6}" destId="{21EB9EC8-25B6-4244-B8D2-7A7CF0D687E2}" srcOrd="0" destOrd="0" presId="urn:microsoft.com/office/officeart/2024/3/layout/verticalVisualTextBlock1"/>
    <dgm:cxn modelId="{4C35299A-12D0-41FE-A466-2A0231D415D0}" srcId="{DFFE368F-8602-46F6-89D1-151CF50B4CBA}" destId="{1D3A822A-F421-4815-A825-45A241DC5395}" srcOrd="1" destOrd="0" parTransId="{DB8BAA78-924B-4CBD-B858-684E11006E32}" sibTransId="{CA824C28-8341-4207-99A7-A054E29B4CBD}"/>
    <dgm:cxn modelId="{D70781B3-AF3F-44F3-85D4-1542745139FF}" type="presOf" srcId="{CA824C28-8341-4207-99A7-A054E29B4CBD}" destId="{757A8FFD-DB68-4B41-94C9-4F808433DAB3}" srcOrd="0" destOrd="0" presId="urn:microsoft.com/office/officeart/2024/3/layout/verticalVisualTextBlock1"/>
    <dgm:cxn modelId="{BC435CE1-9B1B-4334-8739-08C3FD0B5D32}" type="presOf" srcId="{E66E3E28-7270-4F48-B2B2-E4F20C42D4E1}" destId="{461D1071-5BE1-4C5E-97E4-749B9BAE8FA4}" srcOrd="0" destOrd="0" presId="urn:microsoft.com/office/officeart/2024/3/layout/verticalVisualTextBlock1"/>
    <dgm:cxn modelId="{7035C6E4-CD48-4D57-B95A-312B0629B39A}" srcId="{1D3A822A-F421-4815-A825-45A241DC5395}" destId="{7DAED996-483C-4B3C-87B2-E8B81BD524E6}" srcOrd="0" destOrd="0" parTransId="{C79EF01F-8A75-4A51-99CB-5D7A25B4F309}" sibTransId="{82300E63-D1EC-4D19-9089-9FF22E4F2EC0}"/>
    <dgm:cxn modelId="{30CDC4F6-6486-4CB6-8382-134605E09D9B}" type="presOf" srcId="{629C6EB3-BC3D-4BEE-910F-7EF232B774A6}" destId="{165EF2D8-8565-4286-B7B1-F9F7E6198621}" srcOrd="0" destOrd="0" presId="urn:microsoft.com/office/officeart/2024/3/layout/verticalVisualTextBlock1"/>
    <dgm:cxn modelId="{E42CAD30-C559-405E-8278-AAB67FC489DA}" type="presParOf" srcId="{5D47DBB2-D2C1-429E-8843-CBB485BD7653}" destId="{47227B24-C111-490D-88AD-13C09053D883}" srcOrd="0" destOrd="0" presId="urn:microsoft.com/office/officeart/2024/3/layout/verticalVisualTextBlock1"/>
    <dgm:cxn modelId="{38A258D5-857F-4010-A185-991868C2631B}" type="presParOf" srcId="{47227B24-C111-490D-88AD-13C09053D883}" destId="{5D176094-9F4D-40B4-98D9-731EDEED9DE4}" srcOrd="0" destOrd="0" presId="urn:microsoft.com/office/officeart/2024/3/layout/verticalVisualTextBlock1"/>
    <dgm:cxn modelId="{58AAB67F-3A74-46C2-913F-BAF674AE5BCF}" type="presParOf" srcId="{47227B24-C111-490D-88AD-13C09053D883}" destId="{461D1071-5BE1-4C5E-97E4-749B9BAE8FA4}" srcOrd="1" destOrd="0" presId="urn:microsoft.com/office/officeart/2024/3/layout/verticalVisualTextBlock1"/>
    <dgm:cxn modelId="{D3FE2A0D-2CFD-42DC-A1B0-770C7BBCD69C}" type="presParOf" srcId="{47227B24-C111-490D-88AD-13C09053D883}" destId="{3D36CC22-5C02-43E7-A083-1EB1D7185EF0}" srcOrd="2" destOrd="0" presId="urn:microsoft.com/office/officeart/2024/3/layout/verticalVisualTextBlock1"/>
    <dgm:cxn modelId="{2B8A0EBC-0430-41F4-8AC1-D9C2043884D5}" type="presParOf" srcId="{5D47DBB2-D2C1-429E-8843-CBB485BD7653}" destId="{165EF2D8-8565-4286-B7B1-F9F7E6198621}" srcOrd="1" destOrd="0" presId="urn:microsoft.com/office/officeart/2024/3/layout/verticalVisualTextBlock1"/>
    <dgm:cxn modelId="{197A8E7B-38C8-47B9-B7FB-1887997E3216}" type="presParOf" srcId="{5D47DBB2-D2C1-429E-8843-CBB485BD7653}" destId="{6F36E1AE-02A1-40F0-A4DF-4F5B4D5170FC}" srcOrd="2" destOrd="0" presId="urn:microsoft.com/office/officeart/2024/3/layout/verticalVisualTextBlock1"/>
    <dgm:cxn modelId="{CD3159F3-4E6E-4196-820B-B04CB068A678}" type="presParOf" srcId="{6F36E1AE-02A1-40F0-A4DF-4F5B4D5170FC}" destId="{1686D33E-E5EE-4791-8ADE-238BC35FC93B}" srcOrd="0" destOrd="0" presId="urn:microsoft.com/office/officeart/2024/3/layout/verticalVisualTextBlock1"/>
    <dgm:cxn modelId="{9A865951-C2CB-4D62-B669-6F89BE69DF6B}" type="presParOf" srcId="{6F36E1AE-02A1-40F0-A4DF-4F5B4D5170FC}" destId="{01FAC5E2-40ED-4DEA-A22F-AE6AC9B76D52}" srcOrd="1" destOrd="0" presId="urn:microsoft.com/office/officeart/2024/3/layout/verticalVisualTextBlock1"/>
    <dgm:cxn modelId="{4CC97225-B921-4532-BCEA-A2254EE3257E}" type="presParOf" srcId="{6F36E1AE-02A1-40F0-A4DF-4F5B4D5170FC}" destId="{21EB9EC8-25B6-4244-B8D2-7A7CF0D687E2}" srcOrd="2" destOrd="0" presId="urn:microsoft.com/office/officeart/2024/3/layout/verticalVisualTextBlock1"/>
    <dgm:cxn modelId="{2D03C8D8-C4D5-4E16-BFC2-38EAD1A1D94C}" type="presParOf" srcId="{5D47DBB2-D2C1-429E-8843-CBB485BD7653}" destId="{757A8FFD-DB68-4B41-94C9-4F808433DAB3}" srcOrd="3" destOrd="0" presId="urn:microsoft.com/office/officeart/2024/3/layout/verticalVisualTextBlock1"/>
    <dgm:cxn modelId="{E8E4AB75-099F-4138-BD5F-301A51BE5C41}" type="presParOf" srcId="{5D47DBB2-D2C1-429E-8843-CBB485BD7653}" destId="{E9FAB812-6F6B-4959-9AAA-094E31D0C1AC}" srcOrd="4" destOrd="0" presId="urn:microsoft.com/office/officeart/2024/3/layout/verticalVisualTextBlock1"/>
    <dgm:cxn modelId="{B49308EA-0E7C-4AB0-B071-22DA4E9A0969}" type="presParOf" srcId="{E9FAB812-6F6B-4959-9AAA-094E31D0C1AC}" destId="{37F0D5ED-BFC2-4BD4-850C-57CB222AD8B9}" srcOrd="0" destOrd="0" presId="urn:microsoft.com/office/officeart/2024/3/layout/verticalVisualTextBlock1"/>
    <dgm:cxn modelId="{0263FBB4-3D0A-4515-9C6C-6B4F76684151}" type="presParOf" srcId="{E9FAB812-6F6B-4959-9AAA-094E31D0C1AC}" destId="{2F145017-6570-4040-B555-3DB669AECDC2}" srcOrd="1" destOrd="0" presId="urn:microsoft.com/office/officeart/2024/3/layout/verticalVisualTextBlock1"/>
    <dgm:cxn modelId="{EB46E68A-F621-474F-B070-8C21DA8A2423}" type="presParOf" srcId="{E9FAB812-6F6B-4959-9AAA-094E31D0C1AC}" destId="{1444F70E-997A-44D9-AD5A-E760C1638CC1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FE9D5C-13E1-4DFF-965E-DA61DB28CC57}">
      <dsp:nvSpPr>
        <dsp:cNvPr id="0" name=""/>
        <dsp:cNvSpPr/>
      </dsp:nvSpPr>
      <dsp:spPr>
        <a:xfrm>
          <a:off x="0" y="0"/>
          <a:ext cx="1420570" cy="14205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" b="31503"/>
          <a:stretch>
            <a:fillRect t="-23000" b="-23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89FB79E-1AE8-4EF5-8020-38C1D168BB02}">
      <dsp:nvSpPr>
        <dsp:cNvPr id="0" name=""/>
        <dsp:cNvSpPr/>
      </dsp:nvSpPr>
      <dsp:spPr>
        <a:xfrm>
          <a:off x="1600570" y="0"/>
          <a:ext cx="4535053" cy="3510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" sz="1800" kern="1200"/>
            <a:t>Datos completos de reservas</a:t>
          </a:r>
        </a:p>
      </dsp:txBody>
      <dsp:txXfrm>
        <a:off x="1600570" y="0"/>
        <a:ext cx="4535053" cy="351052"/>
      </dsp:txXfrm>
    </dsp:sp>
    <dsp:sp modelId="{23126F7B-6824-4D78-B692-F9D1DC1E9A69}">
      <dsp:nvSpPr>
        <dsp:cNvPr id="0" name=""/>
        <dsp:cNvSpPr/>
      </dsp:nvSpPr>
      <dsp:spPr>
        <a:xfrm>
          <a:off x="1600570" y="351052"/>
          <a:ext cx="4535053" cy="1069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" sz="1400" kern="1200"/>
            <a:t>El conjunto de datos incluye fechas de reserva, datos demográficos de clientes y estado de cancelación, proporcionando información sobre el comportamiento de las reservas.</a:t>
          </a:r>
        </a:p>
      </dsp:txBody>
      <dsp:txXfrm>
        <a:off x="1600570" y="351052"/>
        <a:ext cx="4535053" cy="1069517"/>
      </dsp:txXfrm>
    </dsp:sp>
    <dsp:sp modelId="{9526AC5D-E8D4-4F49-BA56-5A6D902139EA}">
      <dsp:nvSpPr>
        <dsp:cNvPr id="0" name=""/>
        <dsp:cNvSpPr/>
      </dsp:nvSpPr>
      <dsp:spPr>
        <a:xfrm>
          <a:off x="0" y="1534216"/>
          <a:ext cx="1420570" cy="1420570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1" r="14827" b="-2"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56DB46-20C2-4CD7-9EE4-9FEA64DC84E2}">
      <dsp:nvSpPr>
        <dsp:cNvPr id="0" name=""/>
        <dsp:cNvSpPr/>
      </dsp:nvSpPr>
      <dsp:spPr>
        <a:xfrm>
          <a:off x="1600570" y="1534216"/>
          <a:ext cx="4535053" cy="3510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" sz="1800" kern="1200"/>
            <a:t>Análisis de patrones de demanda</a:t>
          </a:r>
        </a:p>
      </dsp:txBody>
      <dsp:txXfrm>
        <a:off x="1600570" y="1534216"/>
        <a:ext cx="4535053" cy="351052"/>
      </dsp:txXfrm>
    </dsp:sp>
    <dsp:sp modelId="{A334C38F-C582-4F1D-8DF5-E3A305848A71}">
      <dsp:nvSpPr>
        <dsp:cNvPr id="0" name=""/>
        <dsp:cNvSpPr/>
      </dsp:nvSpPr>
      <dsp:spPr>
        <a:xfrm>
          <a:off x="1600570" y="1885268"/>
          <a:ext cx="4535053" cy="1069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" sz="1400" kern="1200"/>
            <a:t>El análisis de patrones como la estacionalidad y el tiempo de entrega ayuda a entender los factores que afectan a la demanda de reservas.</a:t>
          </a:r>
        </a:p>
      </dsp:txBody>
      <dsp:txXfrm>
        <a:off x="1600570" y="1885268"/>
        <a:ext cx="4535053" cy="1069517"/>
      </dsp:txXfrm>
    </dsp:sp>
    <dsp:sp modelId="{8A232625-5997-4C91-9A06-86552F50342F}">
      <dsp:nvSpPr>
        <dsp:cNvPr id="0" name=""/>
        <dsp:cNvSpPr/>
      </dsp:nvSpPr>
      <dsp:spPr>
        <a:xfrm>
          <a:off x="0" y="3068432"/>
          <a:ext cx="1420570" cy="14205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8" r="25537" b="-7"/>
          <a:stretch>
            <a:fillRect l="-24000" r="-24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C8A85B-3F2C-4CD4-9CF1-110FE77EEE4C}">
      <dsp:nvSpPr>
        <dsp:cNvPr id="0" name=""/>
        <dsp:cNvSpPr/>
      </dsp:nvSpPr>
      <dsp:spPr>
        <a:xfrm>
          <a:off x="1600570" y="3068432"/>
          <a:ext cx="4535053" cy="319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" sz="1800" kern="1200"/>
            <a:t>Mejorando los resultados en hostelería</a:t>
          </a:r>
        </a:p>
      </dsp:txBody>
      <dsp:txXfrm>
        <a:off x="1600570" y="3068432"/>
        <a:ext cx="4535053" cy="319309"/>
      </dsp:txXfrm>
    </dsp:sp>
    <dsp:sp modelId="{A1E9555B-9FBB-4977-B006-55004380C51C}">
      <dsp:nvSpPr>
        <dsp:cNvPr id="0" name=""/>
        <dsp:cNvSpPr/>
      </dsp:nvSpPr>
      <dsp:spPr>
        <a:xfrm>
          <a:off x="1600570" y="3387741"/>
          <a:ext cx="4535053" cy="1101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" sz="1400" kern="1200"/>
            <a:t>La investigación con este conjunto de datos predice cancelaciones, optimiza precios y mejora la satisfacción del cliente en hoteles.</a:t>
          </a:r>
        </a:p>
      </dsp:txBody>
      <dsp:txXfrm>
        <a:off x="1600570" y="3387741"/>
        <a:ext cx="4535053" cy="11012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76094-9F4D-40B4-98D9-731EDEED9DE4}">
      <dsp:nvSpPr>
        <dsp:cNvPr id="0" name=""/>
        <dsp:cNvSpPr/>
      </dsp:nvSpPr>
      <dsp:spPr>
        <a:xfrm>
          <a:off x="0" y="0"/>
          <a:ext cx="1229617" cy="12296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" r="31309" b="-2"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1D1071-5BE1-4C5E-97E4-749B9BAE8FA4}">
      <dsp:nvSpPr>
        <dsp:cNvPr id="0" name=""/>
        <dsp:cNvSpPr/>
      </dsp:nvSpPr>
      <dsp:spPr>
        <a:xfrm>
          <a:off x="1409617" y="0"/>
          <a:ext cx="4076782" cy="311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800" kern="1200"/>
            <a:t>Tratamiento de valores faltantes</a:t>
          </a:r>
        </a:p>
      </dsp:txBody>
      <dsp:txXfrm>
        <a:off x="1409617" y="0"/>
        <a:ext cx="4076782" cy="311430"/>
      </dsp:txXfrm>
    </dsp:sp>
    <dsp:sp modelId="{3D36CC22-5C02-43E7-A083-1EB1D7185EF0}">
      <dsp:nvSpPr>
        <dsp:cNvPr id="0" name=""/>
        <dsp:cNvSpPr/>
      </dsp:nvSpPr>
      <dsp:spPr>
        <a:xfrm>
          <a:off x="1409617" y="311430"/>
          <a:ext cx="4076782" cy="909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Se emplearon métodos apropiados para manejar los valores faltantes, asegurando la integridad y coherencia de los datos.</a:t>
          </a:r>
        </a:p>
      </dsp:txBody>
      <dsp:txXfrm>
        <a:off x="1409617" y="311430"/>
        <a:ext cx="4076782" cy="909090"/>
      </dsp:txXfrm>
    </dsp:sp>
    <dsp:sp modelId="{1686D33E-E5EE-4791-8ADE-238BC35FC93B}">
      <dsp:nvSpPr>
        <dsp:cNvPr id="0" name=""/>
        <dsp:cNvSpPr/>
      </dsp:nvSpPr>
      <dsp:spPr>
        <a:xfrm>
          <a:off x="0" y="1327987"/>
          <a:ext cx="1229617" cy="1229617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49" r="1" b="2"/>
          <a:stretch>
            <a:fillRect t="-4000" b="-4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FAC5E2-40ED-4DEA-A22F-AE6AC9B76D52}">
      <dsp:nvSpPr>
        <dsp:cNvPr id="0" name=""/>
        <dsp:cNvSpPr/>
      </dsp:nvSpPr>
      <dsp:spPr>
        <a:xfrm>
          <a:off x="1409617" y="1327987"/>
          <a:ext cx="4076782" cy="311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800" kern="1200"/>
            <a:t>Eliminación de duplicados</a:t>
          </a:r>
        </a:p>
      </dsp:txBody>
      <dsp:txXfrm>
        <a:off x="1409617" y="1327987"/>
        <a:ext cx="4076782" cy="311430"/>
      </dsp:txXfrm>
    </dsp:sp>
    <dsp:sp modelId="{21EB9EC8-25B6-4244-B8D2-7A7CF0D687E2}">
      <dsp:nvSpPr>
        <dsp:cNvPr id="0" name=""/>
        <dsp:cNvSpPr/>
      </dsp:nvSpPr>
      <dsp:spPr>
        <a:xfrm>
          <a:off x="1409617" y="1639418"/>
          <a:ext cx="4076782" cy="918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Se identificaron y eliminaron registros duplicados para evitar sesgos y mejorar la calidad de los resultados.</a:t>
          </a:r>
        </a:p>
      </dsp:txBody>
      <dsp:txXfrm>
        <a:off x="1409617" y="1639418"/>
        <a:ext cx="4076782" cy="918187"/>
      </dsp:txXfrm>
    </dsp:sp>
    <dsp:sp modelId="{37F0D5ED-BFC2-4BD4-850C-57CB222AD8B9}">
      <dsp:nvSpPr>
        <dsp:cNvPr id="0" name=""/>
        <dsp:cNvSpPr/>
      </dsp:nvSpPr>
      <dsp:spPr>
        <a:xfrm>
          <a:off x="0" y="2655974"/>
          <a:ext cx="1229617" cy="12296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98" r="6" b="6"/>
          <a:stretch>
            <a:fillRect l="-32000" r="-32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F145017-6570-4040-B555-3DB669AECDC2}">
      <dsp:nvSpPr>
        <dsp:cNvPr id="0" name=""/>
        <dsp:cNvSpPr/>
      </dsp:nvSpPr>
      <dsp:spPr>
        <a:xfrm>
          <a:off x="1409617" y="2655974"/>
          <a:ext cx="4076782" cy="311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800" kern="1200"/>
            <a:t>Encoding y escalado</a:t>
          </a:r>
        </a:p>
      </dsp:txBody>
      <dsp:txXfrm>
        <a:off x="1409617" y="2655974"/>
        <a:ext cx="4076782" cy="311430"/>
      </dsp:txXfrm>
    </dsp:sp>
    <dsp:sp modelId="{1444F70E-997A-44D9-AD5A-E760C1638CC1}">
      <dsp:nvSpPr>
        <dsp:cNvPr id="0" name=""/>
        <dsp:cNvSpPr/>
      </dsp:nvSpPr>
      <dsp:spPr>
        <a:xfrm>
          <a:off x="1409617" y="2967405"/>
          <a:ext cx="4076782" cy="918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Las variables categóricas fueron codificadas y se aplicó escalado o normalización a los datos, según correspondía.</a:t>
          </a:r>
        </a:p>
      </dsp:txBody>
      <dsp:txXfrm>
        <a:off x="1409617" y="2967405"/>
        <a:ext cx="4076782" cy="918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82083-3AD4-4430-BD84-5D66B68CA216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"/>
              <a:t>Haga clic para modificar los estilos de texto del patrón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12ED6E-89F2-452D-9922-C17BED29F9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0068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"/>
              <a:t>Fuente de la imagen: biblioteca de contenidos de Microsoft 365
El conjunto de datos de Demanda de Reservas Hoteleras contiene información sobre reservas de hoteles, incluyendo fechas de reserva, demografía de clientes y estado de cancelación. Permite analizar patrones de reserva y factores que afectan a la demanda, como la estacionalidad y el tiempo de entrega. Los investigadores utilizan el conjunto de datos para predecir cancelaciones, optimizar precios y mejorar la satisfacción del cliente en el sector hotelero.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DAC12A-EBD2-4B81-AF79-EC851A7A190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0155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Origen de imagen: biblioteca de contenido de Microsoft 365
Se han tratado los valores faltantes utilizando métodos adecuados, garantizando la integridad de los datos. Los valores duplicados fueron identificados y eliminados para evitar sesgos. Además, se realizó encoding de variables categóricas y se aplicó escalado o normalización, según correspondía. Todas las decisiones de preprocesado están debidamente documentadas.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2ED6E-89F2-452D-9922-C17BED29F94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661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Origen de imagen: biblioteca de contenido de Microsoft 365
1️⃣ Los valores faltantes fueron imputados según la variable, evitando la eliminación de registros. 2️⃣ Se eliminaron ~32,000 duplicados exactos para prevenir sesgos. 3️⃣ Variables que provocan data leakage y datos personales fueron descartados. 4️⃣ Se crearon nuevas variables como total_nights, total_guests e is_long_stay para mejorar el análisis. 5️⃣ Las variables categóricas se transformaron con OneHotEncoder y las numéricas con StandardScaler.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2ED6E-89F2-452D-9922-C17BED29F94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0594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"/>
              <a:t>Haz clic para editar el estilo del título Master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"/>
              <a:t>Haz clic para editar el estilo de subtítulos Master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24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13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"/>
              <a:t>Haz clic para editar el estilo del título Master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"/>
              <a:t>Haz clic para editar el estilo de subtítulos Master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214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"/>
              <a:t>Haz clic para editar el estilo del título Master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s"/>
              <a:t>Haz clic para editar el estilo de subtítulos Master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8565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"/>
              <a:t>Haz clic para editar el estilo del título Master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s"/>
              <a:t>Haz clic para editar el estilo de subtítulos Master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6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"/>
              <a:t>Haz clic para editar el estilo del título Master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"/>
              <a:t>Haz clic para editar el estilo de subtítulos Master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33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"/>
              <a:t>Haz clic para editar el estilo de subtítulos Master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17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"/>
              <a:t>Haz clic para editar el estilo del título Master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"/>
              <a:t>Haz clic para editar el estilo de subtítulos Master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876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9425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76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s"/>
              <a:t>Haz clic para editar estilos de texto maestro</a:t>
            </a:r>
          </a:p>
          <a:p>
            <a:pPr marL="228600" lvl="1" indent="-228600"/>
            <a:r>
              <a:rPr lang="es"/>
              <a:t>Segundo nivel</a:t>
            </a:r>
          </a:p>
          <a:p>
            <a:pPr marL="228600" lvl="2" indent="-228600"/>
            <a:r>
              <a:rPr lang="es"/>
              <a:t>Tercer nivel</a:t>
            </a:r>
          </a:p>
          <a:p>
            <a:pPr marL="228600" lvl="3" indent="-228600"/>
            <a:r>
              <a:rPr lang="es"/>
              <a:t>Cuarto nivel</a:t>
            </a:r>
          </a:p>
          <a:p>
            <a:pPr marL="228600" lvl="4" indent="-228600"/>
            <a:r>
              <a:rPr lang="es"/>
              <a:t>Quinto nivel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62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46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32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00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04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s"/>
              <a:t>Haz clic para editar el estilo del título Master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92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718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97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770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681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92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134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346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269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19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690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408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3/1/2026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841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3/1/2026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941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3/1/2026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553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028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907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5976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091837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573427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s"/>
              <a:t>Haz clic para editar el estilo del título Master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0527750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s"/>
              <a:t>Haz clic para editar la declaración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6471608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s"/>
              <a:t>Haz clic para editar la declaración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5691580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s"/>
              <a:t>Haz clic para editar la declaración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6828416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"/>
              <a:t>Autor de la cita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s"/>
              <a:t>Haz clic para editar Cita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334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s"/>
              <a:t>Autor de la cita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s"/>
              <a:t>Haz clic para editar Cita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9975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s"/>
              <a:t>Autor de la cita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s"/>
              <a:t>Haz clic para editar Cita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15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s"/>
              <a:t>Autor de la cita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s"/>
              <a:t>Haz clic para editar Cita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81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484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"/>
              <a:t>Haz clic para editar estilos de texto maestro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"/>
              <a:t>Haz clic para editar estilos de texto maestro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9367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7271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245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"/>
              <a:t>Haz clic para editar estilos de texto maestro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863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"/>
              <a:t>Haz clic para editar estilos de texto maestro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309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54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s"/>
              <a:t>Haz clic para editar el estilo del título Master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90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"/>
              <a:t>Haz clic para editar el estilo del título Master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"/>
              <a:t>Haz clic para editar estilos de texto maestro</a:t>
            </a:r>
          </a:p>
          <a:p>
            <a:pPr lvl="1"/>
            <a:r>
              <a:rPr lang="es"/>
              <a:t>Segundo nivel</a:t>
            </a:r>
          </a:p>
          <a:p>
            <a:pPr lvl="2"/>
            <a:r>
              <a:rPr lang="es"/>
              <a:t>Tercer nivel</a:t>
            </a:r>
          </a:p>
          <a:p>
            <a:pPr lvl="3"/>
            <a:r>
              <a:rPr lang="es"/>
              <a:t>Cuarto nivel</a:t>
            </a:r>
          </a:p>
          <a:p>
            <a:pPr lvl="4"/>
            <a:r>
              <a:rPr lang="es"/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s"/>
              <a:t>Ejemplo de texto en el pie de página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39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DA201-2320-9ECB-6182-C785ADB68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/>
          <a:p>
            <a:r>
              <a:rPr lang="es"/>
              <a:t>Título de presentación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A56688-DF92-94EA-DD15-B1E4D1C29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>
            <a:normAutofit/>
          </a:bodyPr>
          <a:lstStyle/>
          <a:p>
            <a:r>
              <a:rPr lang="es"/>
              <a:t>Agrega una breve explicación del propósito de la presentación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FE715C66-252B-88BF-ADC3-8160B21EA7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1" y="343038"/>
            <a:ext cx="11506200" cy="4792766"/>
          </a:xfr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2117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D1931-DF88-707E-66CC-4F6512702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>
            <a:normAutofit/>
          </a:bodyPr>
          <a:lstStyle/>
          <a:p>
            <a:r>
              <a:rPr lang="es"/>
              <a:t>Explorando la demanda de reservas de hoteles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4CF95C1-A9F7-7044-8288-9305648251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3304" y="352327"/>
            <a:ext cx="4495799" cy="6172200"/>
          </a:xfrm>
        </p:spPr>
        <p:txBody>
          <a:bodyPr/>
          <a:lstStyle/>
          <a:p>
            <a:endParaRPr lang="es-ES"/>
          </a:p>
        </p:txBody>
      </p:sp>
      <p:graphicFrame>
        <p:nvGraphicFramePr>
          <p:cNvPr id="4" name="Marcador de contenido 4">
            <a:extLst>
              <a:ext uri="{FF2B5EF4-FFF2-40B4-BE49-F238E27FC236}">
                <a16:creationId xmlns:a16="http://schemas.microsoft.com/office/drawing/2014/main" id="{A19BA212-E9DD-4191-A7F1-8FF5660202FE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04642938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429768" y="1828800"/>
          <a:ext cx="6135624" cy="4489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218511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1FE0C-8FA3-6FAE-91B5-00201F052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/>
          <a:p>
            <a:r>
              <a:rPr lang="es-ES" sz="6200"/>
              <a:t>Pasos clave en preprocesado</a:t>
            </a:r>
          </a:p>
        </p:txBody>
      </p:sp>
      <p:graphicFrame>
        <p:nvGraphicFramePr>
          <p:cNvPr id="4" name="Marcador de contenido 4">
            <a:extLst>
              <a:ext uri="{FF2B5EF4-FFF2-40B4-BE49-F238E27FC236}">
                <a16:creationId xmlns:a16="http://schemas.microsoft.com/office/drawing/2014/main" id="{E7A1E583-4F94-47C2-BD54-834D357161A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72299669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5998464" y="2423160"/>
          <a:ext cx="54864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9293804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8DB73-4953-FC9C-65B8-381E00918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" b="0" kern="1200">
                <a:latin typeface="+mj-lt"/>
                <a:ea typeface="+mj-ea"/>
                <a:cs typeface="+mj-cs"/>
              </a:rPr>
              <a:t>Preprocesamiento de datos clave</a:t>
            </a:r>
          </a:p>
        </p:txBody>
      </p:sp>
      <p:pic>
        <p:nvPicPr>
          <p:cNvPr id="4" name="Marcador de contenido 3" descr="Números y finanzas">
            <a:extLst>
              <a:ext uri="{FF2B5EF4-FFF2-40B4-BE49-F238E27FC236}">
                <a16:creationId xmlns:a16="http://schemas.microsoft.com/office/drawing/2014/main" id="{4C898FCF-04C0-45F5-AF12-129BAEAD855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0976" r="40346" b="1"/>
          <a:stretch>
            <a:fillRect/>
          </a:stretch>
        </p:blipFill>
        <p:spPr>
          <a:xfrm>
            <a:off x="342900" y="342900"/>
            <a:ext cx="4501152" cy="6172200"/>
          </a:xfrm>
          <a:noFill/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A186934-5465-438F-B1B7-07D6AC06608A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550408" y="1828800"/>
            <a:ext cx="6035040" cy="448970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sz="1400" b="1"/>
              <a:t>Imputación de valores faltantes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sz="1400"/>
              <a:t>Los valores faltantes se imputaron según el tipo de variable, evitando la eliminación de registros y manteniendo la integridad de los datos.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sz="1400" b="1"/>
              <a:t>Eliminación de duplicados exactos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sz="1400"/>
              <a:t>Se eliminaron alrededor de 32,000 duplicados exactos para prevenir sesgos y garantizar la calidad del conjunto de datos.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sz="1400" b="1"/>
              <a:t>Transformación y creación de variables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sz="1400"/>
              <a:t>Se descartaron variables con data leakage o datos personales, y se crearon nuevas variables para enriquecer el análisis.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sz="1400" b="1"/>
              <a:t>Codificación y escalado de variables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ES" sz="1400"/>
              <a:t>Las variables categóricas fueron codificadas con OneHotEncoder y las numéricas escaladas con StandardScaler para el análisis.</a:t>
            </a:r>
          </a:p>
        </p:txBody>
      </p:sp>
    </p:spTree>
    <p:extLst>
      <p:ext uri="{BB962C8B-B14F-4D97-AF65-F5344CB8AC3E}">
        <p14:creationId xmlns:p14="http://schemas.microsoft.com/office/powerpoint/2010/main" val="422727285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520</Words>
  <Application>Microsoft Office PowerPoint</Application>
  <PresentationFormat>Panorámica</PresentationFormat>
  <Paragraphs>31</Paragraphs>
  <Slides>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Arial</vt:lpstr>
      <vt:lpstr>Neue Haas Grotesk Text Pro</vt:lpstr>
      <vt:lpstr>Dune</vt:lpstr>
      <vt:lpstr>Título de presentación</vt:lpstr>
      <vt:lpstr>Explorando la demanda de reservas de hoteles</vt:lpstr>
      <vt:lpstr>Pasos clave en preprocesado</vt:lpstr>
      <vt:lpstr>Preprocesamiento de datos clave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Diana Hoyos Toscano</dc:creator>
  <cp:lastModifiedBy>Diana Hoyos Toscano</cp:lastModifiedBy>
  <cp:revision>1</cp:revision>
  <dcterms:modified xsi:type="dcterms:W3CDTF">2026-03-01T14:59:34Z</dcterms:modified>
</cp:coreProperties>
</file>