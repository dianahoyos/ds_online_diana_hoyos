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12192000"/>
  <p:notesSz cx="6858000" cy="9144000"/>
  <p:embeddedFontLst>
    <p:embeddedFont>
      <p:font typeface="Play"/>
      <p:regular r:id="rId20"/>
      <p:bold r:id="rId21"/>
    </p:embeddedFont>
    <p:embeddedFont>
      <p:font typeface="Quattrocento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6" roundtripDataSignature="AMtx7mgE1+t1ccEiWLFZlgZB5SeICAZD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y-regular.fntdata"/><Relationship Id="rId22" Type="http://schemas.openxmlformats.org/officeDocument/2006/relationships/font" Target="fonts/QuattrocentoSans-regular.fntdata"/><Relationship Id="rId21" Type="http://schemas.openxmlformats.org/officeDocument/2006/relationships/font" Target="fonts/Play-bold.fntdata"/><Relationship Id="rId24" Type="http://schemas.openxmlformats.org/officeDocument/2006/relationships/font" Target="fonts/QuattrocentoSans-italic.fntdata"/><Relationship Id="rId23" Type="http://schemas.openxmlformats.org/officeDocument/2006/relationships/font" Target="fonts/QuattrocentoSans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customschemas.google.com/relationships/presentationmetadata" Target="metadata"/><Relationship Id="rId25" Type="http://schemas.openxmlformats.org/officeDocument/2006/relationships/font" Target="fonts/QuattrocentoSans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E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Origen de imagen: biblioteca de contenido de Microsoft 365</a:t>
            </a:r>
            <a:br>
              <a:rPr lang="es-ES"/>
            </a:br>
            <a:r>
              <a:rPr lang="es-ES"/>
              <a:t>El café es una de las bebidas más consumidas a nivel mundial y destaca por su aroma y sabor únicos. Se cultiva principalmente en regiones tropicales y existen diversas variedades que ofrecen diferentes matices de sabor. Además, el café es parte fundamental de muchas culturas y rituales sociales.</a:t>
            </a:r>
            <a:endParaRPr/>
          </a:p>
        </p:txBody>
      </p:sp>
      <p:sp>
        <p:nvSpPr>
          <p:cNvPr id="97" name="Google Shape;9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b4996cd242_0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3b4996cd242_0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46" name="Google Shape;46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2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2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0" y="0"/>
            <a:ext cx="12192000" cy="2877832"/>
          </a:xfrm>
          <a:custGeom>
            <a:rect b="b" l="l" r="r" t="t"/>
            <a:pathLst>
              <a:path extrusionOk="0" h="2877832" w="12192000">
                <a:moveTo>
                  <a:pt x="6789701" y="2809623"/>
                </a:moveTo>
                <a:lnTo>
                  <a:pt x="6788702" y="2809701"/>
                </a:lnTo>
                <a:lnTo>
                  <a:pt x="6788476" y="281023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915388"/>
                </a:lnTo>
                <a:lnTo>
                  <a:pt x="12061096" y="1954428"/>
                </a:lnTo>
                <a:cubicBezTo>
                  <a:pt x="11933500" y="1990642"/>
                  <a:pt x="11805390" y="2025171"/>
                  <a:pt x="11676800" y="2058003"/>
                </a:cubicBezTo>
                <a:cubicBezTo>
                  <a:pt x="11262789" y="2165510"/>
                  <a:pt x="10845343" y="2259112"/>
                  <a:pt x="10425355" y="2341542"/>
                </a:cubicBezTo>
                <a:cubicBezTo>
                  <a:pt x="10092810" y="2406753"/>
                  <a:pt x="9759033" y="2465150"/>
                  <a:pt x="9424022" y="2516704"/>
                </a:cubicBezTo>
                <a:cubicBezTo>
                  <a:pt x="9102997" y="2566361"/>
                  <a:pt x="8781133" y="2610928"/>
                  <a:pt x="8458419" y="2650405"/>
                </a:cubicBezTo>
                <a:cubicBezTo>
                  <a:pt x="8211360" y="2680571"/>
                  <a:pt x="7963792" y="2706144"/>
                  <a:pt x="7715970" y="2730352"/>
                </a:cubicBezTo>
                <a:lnTo>
                  <a:pt x="6951716" y="2796132"/>
                </a:lnTo>
                <a:lnTo>
                  <a:pt x="6936303" y="2798203"/>
                </a:lnTo>
                <a:lnTo>
                  <a:pt x="6790448" y="2809564"/>
                </a:lnTo>
                <a:lnTo>
                  <a:pt x="6799941" y="2811384"/>
                </a:lnTo>
                <a:cubicBezTo>
                  <a:pt x="6811623" y="2811850"/>
                  <a:pt x="6823734" y="2809677"/>
                  <a:pt x="6835432" y="2809677"/>
                </a:cubicBezTo>
                <a:cubicBezTo>
                  <a:pt x="6851580" y="2809677"/>
                  <a:pt x="6867729" y="2807070"/>
                  <a:pt x="6884003" y="2806699"/>
                </a:cubicBezTo>
                <a:cubicBezTo>
                  <a:pt x="7115805" y="2801237"/>
                  <a:pt x="7347351" y="2789070"/>
                  <a:pt x="7578771" y="2774172"/>
                </a:cubicBezTo>
                <a:cubicBezTo>
                  <a:pt x="7927552" y="2751704"/>
                  <a:pt x="8276080" y="2723525"/>
                  <a:pt x="8623845" y="2687275"/>
                </a:cubicBezTo>
                <a:cubicBezTo>
                  <a:pt x="8909939" y="2657977"/>
                  <a:pt x="9195310" y="2623342"/>
                  <a:pt x="9479970" y="2583369"/>
                </a:cubicBezTo>
                <a:cubicBezTo>
                  <a:pt x="9864901" y="2528995"/>
                  <a:pt x="10248014" y="2464281"/>
                  <a:pt x="10629308" y="2389212"/>
                </a:cubicBezTo>
                <a:cubicBezTo>
                  <a:pt x="11090114" y="2298092"/>
                  <a:pt x="11546975" y="2190586"/>
                  <a:pt x="11998498" y="2063218"/>
                </a:cubicBezTo>
                <a:lnTo>
                  <a:pt x="12192000" y="2006219"/>
                </a:lnTo>
                <a:lnTo>
                  <a:pt x="12192000" y="2060956"/>
                </a:lnTo>
                <a:lnTo>
                  <a:pt x="11829257" y="2166255"/>
                </a:lnTo>
                <a:cubicBezTo>
                  <a:pt x="11534769" y="2245952"/>
                  <a:pt x="11238120" y="2316838"/>
                  <a:pt x="10939183" y="2380770"/>
                </a:cubicBezTo>
                <a:cubicBezTo>
                  <a:pt x="10622824" y="2448552"/>
                  <a:pt x="10304941" y="2508549"/>
                  <a:pt x="9985530" y="2560775"/>
                </a:cubicBezTo>
                <a:cubicBezTo>
                  <a:pt x="9720036" y="2604224"/>
                  <a:pt x="9453814" y="2642869"/>
                  <a:pt x="9186882" y="2676722"/>
                </a:cubicBezTo>
                <a:cubicBezTo>
                  <a:pt x="8984197" y="2702296"/>
                  <a:pt x="8781514" y="2726379"/>
                  <a:pt x="8578198" y="2746241"/>
                </a:cubicBezTo>
                <a:cubicBezTo>
                  <a:pt x="8340547" y="2768961"/>
                  <a:pt x="8102644" y="2790436"/>
                  <a:pt x="7864358" y="2807692"/>
                </a:cubicBezTo>
                <a:cubicBezTo>
                  <a:pt x="7554994" y="2830036"/>
                  <a:pt x="7245502" y="2847914"/>
                  <a:pt x="6935502" y="2859086"/>
                </a:cubicBezTo>
                <a:cubicBezTo>
                  <a:pt x="6782917" y="2864549"/>
                  <a:pt x="6630334" y="2868397"/>
                  <a:pt x="6477750" y="2872989"/>
                </a:cubicBezTo>
                <a:cubicBezTo>
                  <a:pt x="6439195" y="2870905"/>
                  <a:pt x="6400529" y="2872530"/>
                  <a:pt x="6362294" y="2877832"/>
                </a:cubicBezTo>
                <a:lnTo>
                  <a:pt x="6057129" y="2877832"/>
                </a:lnTo>
                <a:lnTo>
                  <a:pt x="5977784" y="2873238"/>
                </a:lnTo>
                <a:cubicBezTo>
                  <a:pt x="5740261" y="2860825"/>
                  <a:pt x="5502739" y="2847046"/>
                  <a:pt x="5265087" y="2836989"/>
                </a:cubicBezTo>
                <a:cubicBezTo>
                  <a:pt x="4958267" y="2824573"/>
                  <a:pt x="4651826" y="2804093"/>
                  <a:pt x="4346277" y="2774919"/>
                </a:cubicBezTo>
                <a:cubicBezTo>
                  <a:pt x="4021654" y="2744007"/>
                  <a:pt x="3697795" y="2709372"/>
                  <a:pt x="3373045" y="2676350"/>
                </a:cubicBezTo>
                <a:cubicBezTo>
                  <a:pt x="3035412" y="2642088"/>
                  <a:pt x="2698456" y="2602449"/>
                  <a:pt x="2362173" y="2557423"/>
                </a:cubicBezTo>
                <a:cubicBezTo>
                  <a:pt x="1984692" y="2507270"/>
                  <a:pt x="1608364" y="2449544"/>
                  <a:pt x="1233178" y="2384247"/>
                </a:cubicBezTo>
                <a:cubicBezTo>
                  <a:pt x="842181" y="2315534"/>
                  <a:pt x="453758" y="2237046"/>
                  <a:pt x="68500" y="2144540"/>
                </a:cubicBezTo>
                <a:lnTo>
                  <a:pt x="0" y="2127185"/>
                </a:lnTo>
                <a:lnTo>
                  <a:pt x="0" y="2070696"/>
                </a:lnTo>
                <a:lnTo>
                  <a:pt x="72441" y="2089473"/>
                </a:lnTo>
                <a:cubicBezTo>
                  <a:pt x="247961" y="2131651"/>
                  <a:pt x="424164" y="2170911"/>
                  <a:pt x="600716" y="2207843"/>
                </a:cubicBezTo>
                <a:cubicBezTo>
                  <a:pt x="988279" y="2288657"/>
                  <a:pt x="1378133" y="2357555"/>
                  <a:pt x="1769512" y="2418011"/>
                </a:cubicBezTo>
                <a:cubicBezTo>
                  <a:pt x="2052426" y="2461587"/>
                  <a:pt x="2335725" y="2501684"/>
                  <a:pt x="2613554" y="2534953"/>
                </a:cubicBezTo>
                <a:cubicBezTo>
                  <a:pt x="2605544" y="2537560"/>
                  <a:pt x="2594611" y="2527504"/>
                  <a:pt x="2581134" y="2525022"/>
                </a:cubicBezTo>
                <a:cubicBezTo>
                  <a:pt x="2087178" y="2433070"/>
                  <a:pt x="1597684" y="2322177"/>
                  <a:pt x="1112635" y="2192325"/>
                </a:cubicBezTo>
                <a:cubicBezTo>
                  <a:pt x="880453" y="2130254"/>
                  <a:pt x="649713" y="2063776"/>
                  <a:pt x="420412" y="1992892"/>
                </a:cubicBezTo>
                <a:lnTo>
                  <a:pt x="0" y="1853975"/>
                </a:lnTo>
                <a:close/>
              </a:path>
            </a:pathLst>
          </a:custGeom>
          <a:solidFill>
            <a:srgbClr val="727D7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 txBox="1"/>
          <p:nvPr>
            <p:ph type="ctrTitle"/>
          </p:nvPr>
        </p:nvSpPr>
        <p:spPr>
          <a:xfrm>
            <a:off x="638881" y="390525"/>
            <a:ext cx="10909640" cy="15103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Play"/>
              <a:buNone/>
            </a:pPr>
            <a:r>
              <a:rPr b="1" lang="es-ES" sz="6600">
                <a:solidFill>
                  <a:srgbClr val="FFFFFF"/>
                </a:solidFill>
              </a:rPr>
              <a:t>MERCADO GLOBAL DEL CAFÉ</a:t>
            </a:r>
            <a:endParaRPr sz="6600">
              <a:solidFill>
                <a:srgbClr val="FFFFFF"/>
              </a:solidFill>
            </a:endParaRPr>
          </a:p>
        </p:txBody>
      </p:sp>
      <p:sp>
        <p:nvSpPr>
          <p:cNvPr id="91" name="Google Shape;91;p1"/>
          <p:cNvSpPr txBox="1"/>
          <p:nvPr>
            <p:ph idx="1" type="subTitle"/>
          </p:nvPr>
        </p:nvSpPr>
        <p:spPr>
          <a:xfrm>
            <a:off x="2895601" y="1900826"/>
            <a:ext cx="6396204" cy="6625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</a:pPr>
            <a:r>
              <a:rPr b="1" lang="es-ES">
                <a:solidFill>
                  <a:srgbClr val="FFFFFF"/>
                </a:solidFill>
              </a:rPr>
              <a:t>Exploratory Data Analysis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3974206" y="1753266"/>
            <a:ext cx="4243589" cy="18288"/>
          </a:xfrm>
          <a:custGeom>
            <a:rect b="b" l="l" r="r" t="t"/>
            <a:pathLst>
              <a:path extrusionOk="0" fill="none" h="18288" w="4243589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extrusionOk="0" h="18288" w="4243589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cap="rnd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3" name="Google Shape;9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73169" y="3067050"/>
            <a:ext cx="6042613" cy="30195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685800" y="685799"/>
            <a:ext cx="6802718" cy="5486401"/>
          </a:xfrm>
          <a:prstGeom prst="rect">
            <a:avLst/>
          </a:prstGeom>
          <a:solidFill>
            <a:srgbClr val="DCC9B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"/>
          <p:cNvSpPr txBox="1"/>
          <p:nvPr>
            <p:ph type="title"/>
          </p:nvPr>
        </p:nvSpPr>
        <p:spPr>
          <a:xfrm>
            <a:off x="938299" y="1049031"/>
            <a:ext cx="5624700" cy="1097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ay"/>
              <a:buNone/>
            </a:pPr>
            <a:r>
              <a:rPr b="1" lang="es-ES"/>
              <a:t>EDA DEL MERCADO GLOBAL DEL CAFÉ</a:t>
            </a:r>
            <a:endParaRPr b="1">
              <a:solidFill>
                <a:srgbClr val="595959"/>
              </a:solidFill>
            </a:endParaRPr>
          </a:p>
        </p:txBody>
      </p:sp>
      <p:sp>
        <p:nvSpPr>
          <p:cNvPr id="102" name="Google Shape;102;p2"/>
          <p:cNvSpPr txBox="1"/>
          <p:nvPr>
            <p:ph idx="2" type="body"/>
          </p:nvPr>
        </p:nvSpPr>
        <p:spPr>
          <a:xfrm>
            <a:off x="1335800" y="2447324"/>
            <a:ext cx="4117800" cy="34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s-ES" sz="1800">
                <a:latin typeface="Arial"/>
                <a:ea typeface="Arial"/>
                <a:cs typeface="Arial"/>
                <a:sym typeface="Arial"/>
              </a:rPr>
              <a:t>Introducción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s-ES" sz="1800">
                <a:latin typeface="Arial"/>
                <a:ea typeface="Arial"/>
                <a:cs typeface="Arial"/>
                <a:sym typeface="Arial"/>
              </a:rPr>
              <a:t>Contexto del problema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s-ES" sz="1800">
                <a:latin typeface="Arial"/>
                <a:ea typeface="Arial"/>
                <a:cs typeface="Arial"/>
                <a:sym typeface="Arial"/>
              </a:rPr>
              <a:t>Hipótesis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s-ES" sz="1800">
                <a:latin typeface="Arial"/>
                <a:ea typeface="Arial"/>
                <a:cs typeface="Arial"/>
                <a:sym typeface="Arial"/>
              </a:rPr>
              <a:t>Descripción de los datos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s-ES" sz="1800">
                <a:latin typeface="Arial"/>
                <a:ea typeface="Arial"/>
                <a:cs typeface="Arial"/>
                <a:sym typeface="Arial"/>
              </a:rPr>
              <a:t>Limpieza y preprocesado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s-ES" sz="1800">
                <a:latin typeface="Arial"/>
                <a:ea typeface="Arial"/>
                <a:cs typeface="Arial"/>
                <a:sym typeface="Arial"/>
              </a:rPr>
              <a:t>Análisis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s-ES" sz="1800">
                <a:latin typeface="Arial"/>
                <a:ea typeface="Arial"/>
                <a:cs typeface="Arial"/>
                <a:sym typeface="Arial"/>
              </a:rPr>
              <a:t>Verificación de hipótesis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s-ES" sz="1800">
                <a:latin typeface="Arial"/>
                <a:ea typeface="Arial"/>
                <a:cs typeface="Arial"/>
                <a:sym typeface="Arial"/>
              </a:rPr>
              <a:t>Conclusiones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s-ES" sz="1800"/>
              <a:t>Recomendaciones</a:t>
            </a:r>
            <a:endParaRPr sz="1800"/>
          </a:p>
        </p:txBody>
      </p:sp>
      <p:pic>
        <p:nvPicPr>
          <p:cNvPr descr="Cerezas de café crudas en una rama" id="103" name="Google Shape;103;p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-2" l="21274" r="28626" t="0"/>
          <a:stretch/>
        </p:blipFill>
        <p:spPr>
          <a:xfrm>
            <a:off x="6738413" y="685799"/>
            <a:ext cx="4840443" cy="548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89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Mapa&#10;&#10;El contenido generado por IA puede ser incorrecto." id="110" name="Google Shape;110;p3"/>
          <p:cNvPicPr preferRelativeResize="0"/>
          <p:nvPr/>
        </p:nvPicPr>
        <p:blipFill rotWithShape="1">
          <a:blip r:embed="rId3">
            <a:alphaModFix amt="35000"/>
          </a:blip>
          <a:srcRect b="-1" l="0" r="17777" t="0"/>
          <a:stretch/>
        </p:blipFill>
        <p:spPr>
          <a:xfrm>
            <a:off x="7" y="10"/>
            <a:ext cx="12191982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3"/>
          <p:cNvSpPr txBox="1"/>
          <p:nvPr>
            <p:ph type="title"/>
          </p:nvPr>
        </p:nvSpPr>
        <p:spPr>
          <a:xfrm>
            <a:off x="1267800" y="686700"/>
            <a:ext cx="9656400" cy="9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Play"/>
              <a:buNone/>
            </a:pPr>
            <a:r>
              <a:rPr b="1" lang="es-ES">
                <a:solidFill>
                  <a:schemeClr val="lt1"/>
                </a:solidFill>
              </a:rPr>
              <a:t>EL FASCINANTE MUNDO DEL CAFÉ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112" name="Google Shape;112;p3"/>
          <p:cNvCxnSpPr/>
          <p:nvPr/>
        </p:nvCxnSpPr>
        <p:spPr>
          <a:xfrm>
            <a:off x="623622" y="373056"/>
            <a:ext cx="0" cy="6476066"/>
          </a:xfrm>
          <a:prstGeom prst="straightConnector1">
            <a:avLst/>
          </a:prstGeom>
          <a:noFill/>
          <a:ln cap="sq" cmpd="sng" w="25400">
            <a:solidFill>
              <a:srgbClr val="FFFFFF"/>
            </a:solidFill>
            <a:prstDash val="solid"/>
            <a:bevel/>
            <a:headEnd len="sm" w="sm" type="none"/>
            <a:tailEnd len="sm" w="sm" type="none"/>
          </a:ln>
        </p:spPr>
      </p:cxnSp>
      <p:sp>
        <p:nvSpPr>
          <p:cNvPr id="113" name="Google Shape;113;p3"/>
          <p:cNvSpPr/>
          <p:nvPr/>
        </p:nvSpPr>
        <p:spPr>
          <a:xfrm>
            <a:off x="10868773" y="1503366"/>
            <a:ext cx="139039" cy="139039"/>
          </a:xfrm>
          <a:custGeom>
            <a:rect b="b" l="l" r="r" t="t"/>
            <a:pathLst>
              <a:path extrusionOk="0" h="139039" w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11205353" y="1255161"/>
            <a:ext cx="91138" cy="91138"/>
          </a:xfrm>
          <a:custGeom>
            <a:rect b="b" l="l" r="r" t="t"/>
            <a:pathLst>
              <a:path extrusionOk="0" h="91138" w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11337908" y="1642405"/>
            <a:ext cx="127714" cy="127714"/>
          </a:xfrm>
          <a:custGeom>
            <a:rect b="b" l="l" r="r" t="t"/>
            <a:pathLst>
              <a:path extrusionOk="0" h="127714" w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 txBox="1"/>
          <p:nvPr>
            <p:ph idx="1" type="body"/>
          </p:nvPr>
        </p:nvSpPr>
        <p:spPr>
          <a:xfrm>
            <a:off x="4454225" y="2578100"/>
            <a:ext cx="4124700" cy="1437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2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b="1" lang="es-ES" sz="1800">
                <a:solidFill>
                  <a:schemeClr val="lt1"/>
                </a:solidFill>
              </a:rPr>
              <a:t>Cultivo en Regiones Tropicales</a:t>
            </a:r>
            <a:endParaRPr/>
          </a:p>
          <a:p>
            <a:pPr indent="0" lvl="1" marL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s-ES" sz="1800">
                <a:solidFill>
                  <a:schemeClr val="lt1"/>
                </a:solidFill>
              </a:rPr>
              <a:t>Se cultiva en regiones tropicales, donde el clima favorece granos de alta calidad.</a:t>
            </a:r>
            <a:endParaRPr/>
          </a:p>
        </p:txBody>
      </p:sp>
      <p:sp>
        <p:nvSpPr>
          <p:cNvPr id="117" name="Google Shape;117;p3"/>
          <p:cNvSpPr txBox="1"/>
          <p:nvPr/>
        </p:nvSpPr>
        <p:spPr>
          <a:xfrm>
            <a:off x="940975" y="2578100"/>
            <a:ext cx="3195900" cy="19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1" lang="es-ES" sz="1800">
                <a:solidFill>
                  <a:schemeClr val="lt1"/>
                </a:solidFill>
              </a:rPr>
              <a:t>Popularidad Global del Café</a:t>
            </a:r>
            <a:endParaRPr sz="2800">
              <a:solidFill>
                <a:schemeClr val="dk1"/>
              </a:solidFill>
            </a:endParaRPr>
          </a:p>
          <a:p>
            <a:pPr indent="0" lvl="1" marL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s-ES" sz="1800">
                <a:solidFill>
                  <a:schemeClr val="lt1"/>
                </a:solidFill>
              </a:rPr>
              <a:t>El café es una de las bebidas más consumidas en el mundo, valorado por su aroma y sabor únicos.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118" name="Google Shape;118;p3"/>
          <p:cNvSpPr txBox="1"/>
          <p:nvPr/>
        </p:nvSpPr>
        <p:spPr>
          <a:xfrm>
            <a:off x="8726125" y="2578100"/>
            <a:ext cx="3296400" cy="191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2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1" lang="es-ES" sz="1800">
                <a:solidFill>
                  <a:schemeClr val="lt1"/>
                </a:solidFill>
              </a:rPr>
              <a:t>Diversidad y Cultura Cafetera</a:t>
            </a:r>
            <a:endParaRPr sz="2800">
              <a:solidFill>
                <a:schemeClr val="dk1"/>
              </a:solidFill>
            </a:endParaRPr>
          </a:p>
          <a:p>
            <a:pPr indent="0" lvl="1" marL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s-ES" sz="1800">
                <a:solidFill>
                  <a:schemeClr val="lt1"/>
                </a:solidFill>
              </a:rPr>
              <a:t>Existen múltiples variedades con sabores distintos. El café es parte esencial de muchas culturas y momentos sociales.</a:t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"/>
          <p:cNvSpPr/>
          <p:nvPr/>
        </p:nvSpPr>
        <p:spPr>
          <a:xfrm>
            <a:off x="0" y="-8467"/>
            <a:ext cx="12191999" cy="686646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azas de café" id="124" name="Google Shape;124;p4"/>
          <p:cNvPicPr preferRelativeResize="0"/>
          <p:nvPr/>
        </p:nvPicPr>
        <p:blipFill rotWithShape="1">
          <a:blip r:embed="rId3">
            <a:alphaModFix amt="55000"/>
          </a:blip>
          <a:srcRect b="2323" l="0" r="0" t="13406"/>
          <a:stretch/>
        </p:blipFill>
        <p:spPr>
          <a:xfrm>
            <a:off x="20" y="-9107"/>
            <a:ext cx="1219198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4"/>
          <p:cNvSpPr txBox="1"/>
          <p:nvPr>
            <p:ph type="title"/>
          </p:nvPr>
        </p:nvSpPr>
        <p:spPr>
          <a:xfrm>
            <a:off x="686834" y="591344"/>
            <a:ext cx="3200400" cy="55856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Play"/>
              <a:buNone/>
            </a:pPr>
            <a:r>
              <a:rPr b="1" lang="es-ES">
                <a:solidFill>
                  <a:srgbClr val="FFFFFF"/>
                </a:solidFill>
              </a:rPr>
              <a:t>OBJETIVO</a:t>
            </a:r>
            <a:endParaRPr b="1"/>
          </a:p>
        </p:txBody>
      </p:sp>
      <p:sp>
        <p:nvSpPr>
          <p:cNvPr id="126" name="Google Shape;126;p4"/>
          <p:cNvSpPr/>
          <p:nvPr/>
        </p:nvSpPr>
        <p:spPr>
          <a:xfrm flipH="1" rot="10800000">
            <a:off x="7550402" y="2455479"/>
            <a:ext cx="4083433" cy="4083433"/>
          </a:xfrm>
          <a:prstGeom prst="arc">
            <a:avLst>
              <a:gd fmla="val 16200000" name="adj1"/>
              <a:gd fmla="val 0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4338075" y="1963150"/>
            <a:ext cx="6906600" cy="3378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"/>
          <p:cNvSpPr txBox="1"/>
          <p:nvPr>
            <p:ph idx="1" type="body"/>
          </p:nvPr>
        </p:nvSpPr>
        <p:spPr>
          <a:xfrm>
            <a:off x="4461800" y="1963151"/>
            <a:ext cx="6906600" cy="33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34950" lvl="0" marL="228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00"/>
              <a:buChar char="•"/>
            </a:pPr>
            <a:r>
              <a:rPr lang="es-ES" sz="1900"/>
              <a:t>Realizar un </a:t>
            </a:r>
            <a:r>
              <a:rPr b="1" lang="es-ES" sz="1900"/>
              <a:t>análisis exploratorio de datos (EDA)</a:t>
            </a:r>
            <a:r>
              <a:rPr lang="es-ES" sz="1900"/>
              <a:t> del mercado global del café. </a:t>
            </a:r>
            <a:endParaRPr sz="1900"/>
          </a:p>
          <a:p>
            <a:pPr indent="-2349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s-ES" sz="1900"/>
              <a:t>Identificar </a:t>
            </a:r>
            <a:r>
              <a:rPr b="1" lang="es-ES" sz="1900"/>
              <a:t>patrones de distribución y concentración</a:t>
            </a:r>
            <a:r>
              <a:rPr lang="es-ES" sz="1900"/>
              <a:t> en:</a:t>
            </a:r>
            <a:endParaRPr sz="1900"/>
          </a:p>
          <a:p>
            <a:pPr indent="-234950" lvl="1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s-ES" sz="1900"/>
              <a:t>Producción</a:t>
            </a:r>
            <a:endParaRPr sz="1900"/>
          </a:p>
          <a:p>
            <a:pPr indent="-234950" lvl="1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s-ES" sz="1900"/>
              <a:t>Consumo</a:t>
            </a:r>
            <a:endParaRPr sz="1900"/>
          </a:p>
          <a:p>
            <a:pPr indent="-234950" lvl="1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s-ES" sz="1900"/>
              <a:t>Comercio internacional</a:t>
            </a:r>
            <a:endParaRPr sz="1900"/>
          </a:p>
          <a:p>
            <a:pPr indent="-2349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s-ES" sz="1900"/>
              <a:t>Evaluar si el </a:t>
            </a:r>
            <a:r>
              <a:rPr b="1" lang="es-ES" sz="1900"/>
              <a:t>valor generado por el café</a:t>
            </a:r>
            <a:r>
              <a:rPr lang="es-ES" sz="1900"/>
              <a:t> se distribuye de manera </a:t>
            </a:r>
            <a:r>
              <a:rPr b="1" lang="es-ES" sz="1900"/>
              <a:t>homogénea</a:t>
            </a:r>
            <a:r>
              <a:rPr lang="es-ES" sz="1900"/>
              <a:t> entre los países productores.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-5503" y="-1"/>
            <a:ext cx="12192000" cy="6857999"/>
          </a:xfrm>
          <a:prstGeom prst="rect">
            <a:avLst/>
          </a:prstGeom>
          <a:solidFill>
            <a:srgbClr val="A3917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5"/>
          <p:cNvSpPr txBox="1"/>
          <p:nvPr>
            <p:ph type="title"/>
          </p:nvPr>
        </p:nvSpPr>
        <p:spPr>
          <a:xfrm>
            <a:off x="1137033" y="670559"/>
            <a:ext cx="4683321" cy="21488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lang="es-ES"/>
              <a:t>OBJETIVOS </a:t>
            </a:r>
            <a:r>
              <a:rPr b="1" lang="es-ES"/>
              <a:t>ESPECÍFICOS</a:t>
            </a:r>
            <a:endParaRPr b="1"/>
          </a:p>
        </p:txBody>
      </p:sp>
      <p:pic>
        <p:nvPicPr>
          <p:cNvPr descr="Un pastel de chocolate en la tierra&#10;&#10;El contenido generado por IA puede ser incorrecto." id="136" name="Google Shape;136;p5"/>
          <p:cNvPicPr preferRelativeResize="0"/>
          <p:nvPr/>
        </p:nvPicPr>
        <p:blipFill rotWithShape="1">
          <a:blip r:embed="rId3">
            <a:alphaModFix/>
          </a:blip>
          <a:srcRect b="6405" l="0" r="0" t="6405"/>
          <a:stretch/>
        </p:blipFill>
        <p:spPr>
          <a:xfrm>
            <a:off x="1" y="3105151"/>
            <a:ext cx="6448424" cy="3752849"/>
          </a:xfrm>
          <a:custGeom>
            <a:rect b="b" l="l" r="r" t="t"/>
            <a:pathLst>
              <a:path extrusionOk="0" h="3752849" w="6448424">
                <a:moveTo>
                  <a:pt x="0" y="0"/>
                </a:moveTo>
                <a:lnTo>
                  <a:pt x="137978" y="22215"/>
                </a:lnTo>
                <a:cubicBezTo>
                  <a:pt x="196046" y="32277"/>
                  <a:pt x="252469" y="42437"/>
                  <a:pt x="295660" y="49771"/>
                </a:cubicBezTo>
                <a:cubicBezTo>
                  <a:pt x="364885" y="66610"/>
                  <a:pt x="403214" y="32071"/>
                  <a:pt x="456941" y="65635"/>
                </a:cubicBezTo>
                <a:cubicBezTo>
                  <a:pt x="529612" y="69090"/>
                  <a:pt x="662508" y="71245"/>
                  <a:pt x="731691" y="70501"/>
                </a:cubicBezTo>
                <a:cubicBezTo>
                  <a:pt x="768741" y="62400"/>
                  <a:pt x="808263" y="64633"/>
                  <a:pt x="841820" y="61171"/>
                </a:cubicBezTo>
                <a:cubicBezTo>
                  <a:pt x="958973" y="43639"/>
                  <a:pt x="1009730" y="45863"/>
                  <a:pt x="1068219" y="39136"/>
                </a:cubicBezTo>
                <a:cubicBezTo>
                  <a:pt x="1104329" y="33447"/>
                  <a:pt x="1156536" y="44203"/>
                  <a:pt x="1174190" y="38808"/>
                </a:cubicBezTo>
                <a:cubicBezTo>
                  <a:pt x="1188943" y="36385"/>
                  <a:pt x="1213832" y="14880"/>
                  <a:pt x="1225923" y="34507"/>
                </a:cubicBezTo>
                <a:cubicBezTo>
                  <a:pt x="1305283" y="8501"/>
                  <a:pt x="1319617" y="30839"/>
                  <a:pt x="1385617" y="18003"/>
                </a:cubicBezTo>
                <a:cubicBezTo>
                  <a:pt x="1461876" y="-26747"/>
                  <a:pt x="1519510" y="56342"/>
                  <a:pt x="1563967" y="4638"/>
                </a:cubicBezTo>
                <a:lnTo>
                  <a:pt x="1676634" y="10582"/>
                </a:lnTo>
                <a:lnTo>
                  <a:pt x="1769429" y="20265"/>
                </a:lnTo>
                <a:cubicBezTo>
                  <a:pt x="1790625" y="23534"/>
                  <a:pt x="1880369" y="18448"/>
                  <a:pt x="1900584" y="27732"/>
                </a:cubicBezTo>
                <a:cubicBezTo>
                  <a:pt x="2072430" y="22762"/>
                  <a:pt x="2014935" y="5831"/>
                  <a:pt x="2127041" y="22101"/>
                </a:cubicBezTo>
                <a:cubicBezTo>
                  <a:pt x="2168847" y="65820"/>
                  <a:pt x="2153052" y="28773"/>
                  <a:pt x="2211644" y="44507"/>
                </a:cubicBezTo>
                <a:cubicBezTo>
                  <a:pt x="2211201" y="9921"/>
                  <a:pt x="2277596" y="73686"/>
                  <a:pt x="2299605" y="38004"/>
                </a:cubicBezTo>
                <a:cubicBezTo>
                  <a:pt x="2309570" y="41997"/>
                  <a:pt x="2318531" y="46991"/>
                  <a:pt x="2327359" y="52270"/>
                </a:cubicBezTo>
                <a:lnTo>
                  <a:pt x="2331995" y="55017"/>
                </a:lnTo>
                <a:lnTo>
                  <a:pt x="2353777" y="59755"/>
                </a:lnTo>
                <a:lnTo>
                  <a:pt x="2355893" y="68914"/>
                </a:lnTo>
                <a:lnTo>
                  <a:pt x="2385794" y="81650"/>
                </a:lnTo>
                <a:cubicBezTo>
                  <a:pt x="2397613" y="85211"/>
                  <a:pt x="2411061" y="87627"/>
                  <a:pt x="2427010" y="88184"/>
                </a:cubicBezTo>
                <a:cubicBezTo>
                  <a:pt x="2486314" y="76422"/>
                  <a:pt x="2553170" y="126870"/>
                  <a:pt x="2627153" y="110451"/>
                </a:cubicBezTo>
                <a:cubicBezTo>
                  <a:pt x="2653722" y="107383"/>
                  <a:pt x="2732043" y="116068"/>
                  <a:pt x="2744462" y="128780"/>
                </a:cubicBezTo>
                <a:cubicBezTo>
                  <a:pt x="2760299" y="132873"/>
                  <a:pt x="2780248" y="130843"/>
                  <a:pt x="2785202" y="143610"/>
                </a:cubicBezTo>
                <a:cubicBezTo>
                  <a:pt x="2794558" y="159316"/>
                  <a:pt x="2856498" y="142821"/>
                  <a:pt x="2844667" y="159029"/>
                </a:cubicBezTo>
                <a:cubicBezTo>
                  <a:pt x="2888530" y="147871"/>
                  <a:pt x="2914187" y="181391"/>
                  <a:pt x="2946649" y="192330"/>
                </a:cubicBezTo>
                <a:cubicBezTo>
                  <a:pt x="2981872" y="180417"/>
                  <a:pt x="3015239" y="215115"/>
                  <a:pt x="3088812" y="226485"/>
                </a:cubicBezTo>
                <a:cubicBezTo>
                  <a:pt x="3127734" y="212524"/>
                  <a:pt x="3138301" y="234381"/>
                  <a:pt x="3208669" y="217774"/>
                </a:cubicBezTo>
                <a:cubicBezTo>
                  <a:pt x="3242208" y="219284"/>
                  <a:pt x="3229623" y="233297"/>
                  <a:pt x="3290045" y="235553"/>
                </a:cubicBezTo>
                <a:cubicBezTo>
                  <a:pt x="3399655" y="215239"/>
                  <a:pt x="3444518" y="245862"/>
                  <a:pt x="3529335" y="249571"/>
                </a:cubicBezTo>
                <a:cubicBezTo>
                  <a:pt x="3623697" y="257405"/>
                  <a:pt x="3587652" y="268832"/>
                  <a:pt x="3716766" y="252690"/>
                </a:cubicBezTo>
                <a:cubicBezTo>
                  <a:pt x="3723469" y="267318"/>
                  <a:pt x="3737863" y="269842"/>
                  <a:pt x="3765333" y="266823"/>
                </a:cubicBezTo>
                <a:cubicBezTo>
                  <a:pt x="3810754" y="271601"/>
                  <a:pt x="3792745" y="303866"/>
                  <a:pt x="3846897" y="290090"/>
                </a:cubicBezTo>
                <a:cubicBezTo>
                  <a:pt x="3830941" y="306608"/>
                  <a:pt x="3929114" y="308026"/>
                  <a:pt x="3900217" y="323590"/>
                </a:cubicBezTo>
                <a:cubicBezTo>
                  <a:pt x="3922367" y="343425"/>
                  <a:pt x="3948574" y="318948"/>
                  <a:pt x="3971444" y="336662"/>
                </a:cubicBezTo>
                <a:cubicBezTo>
                  <a:pt x="4002781" y="344193"/>
                  <a:pt x="3960997" y="315419"/>
                  <a:pt x="3997868" y="318867"/>
                </a:cubicBezTo>
                <a:cubicBezTo>
                  <a:pt x="4041159" y="326219"/>
                  <a:pt x="4055435" y="293981"/>
                  <a:pt x="4070852" y="339615"/>
                </a:cubicBezTo>
                <a:cubicBezTo>
                  <a:pt x="4121286" y="335828"/>
                  <a:pt x="4121920" y="355506"/>
                  <a:pt x="4180483" y="373369"/>
                </a:cubicBezTo>
                <a:cubicBezTo>
                  <a:pt x="4211379" y="366707"/>
                  <a:pt x="4230171" y="374664"/>
                  <a:pt x="4246264" y="387458"/>
                </a:cubicBezTo>
                <a:cubicBezTo>
                  <a:pt x="4308508" y="393310"/>
                  <a:pt x="4357326" y="416142"/>
                  <a:pt x="4423169" y="431783"/>
                </a:cubicBezTo>
                <a:lnTo>
                  <a:pt x="4446752" y="435383"/>
                </a:lnTo>
                <a:lnTo>
                  <a:pt x="4446954" y="435566"/>
                </a:lnTo>
                <a:cubicBezTo>
                  <a:pt x="4508528" y="480137"/>
                  <a:pt x="4617740" y="529869"/>
                  <a:pt x="4662523" y="553169"/>
                </a:cubicBezTo>
                <a:cubicBezTo>
                  <a:pt x="4720320" y="547046"/>
                  <a:pt x="4678644" y="560102"/>
                  <a:pt x="4715641" y="575354"/>
                </a:cubicBezTo>
                <a:cubicBezTo>
                  <a:pt x="4682056" y="593278"/>
                  <a:pt x="4768370" y="586520"/>
                  <a:pt x="4742071" y="614016"/>
                </a:cubicBezTo>
                <a:cubicBezTo>
                  <a:pt x="4749637" y="615922"/>
                  <a:pt x="4757797" y="616899"/>
                  <a:pt x="4766183" y="617675"/>
                </a:cubicBezTo>
                <a:lnTo>
                  <a:pt x="4770562" y="618094"/>
                </a:lnTo>
                <a:lnTo>
                  <a:pt x="4783240" y="624350"/>
                </a:lnTo>
                <a:lnTo>
                  <a:pt x="4792882" y="620401"/>
                </a:lnTo>
                <a:lnTo>
                  <a:pt x="4816310" y="625721"/>
                </a:lnTo>
                <a:cubicBezTo>
                  <a:pt x="4824144" y="628595"/>
                  <a:pt x="4831482" y="632720"/>
                  <a:pt x="4837953" y="638824"/>
                </a:cubicBezTo>
                <a:cubicBezTo>
                  <a:pt x="4848645" y="668753"/>
                  <a:pt x="4922266" y="669148"/>
                  <a:pt x="4933914" y="707398"/>
                </a:cubicBezTo>
                <a:cubicBezTo>
                  <a:pt x="4940833" y="719653"/>
                  <a:pt x="4978358" y="746502"/>
                  <a:pt x="4995259" y="744825"/>
                </a:cubicBezTo>
                <a:cubicBezTo>
                  <a:pt x="5005107" y="749034"/>
                  <a:pt x="5010567" y="758092"/>
                  <a:pt x="5024744" y="753396"/>
                </a:cubicBezTo>
                <a:cubicBezTo>
                  <a:pt x="5047511" y="761361"/>
                  <a:pt x="5109162" y="783016"/>
                  <a:pt x="5131877" y="792613"/>
                </a:cubicBezTo>
                <a:cubicBezTo>
                  <a:pt x="5132671" y="802792"/>
                  <a:pt x="5144554" y="806683"/>
                  <a:pt x="5161031" y="810975"/>
                </a:cubicBezTo>
                <a:lnTo>
                  <a:pt x="5176815" y="815342"/>
                </a:lnTo>
                <a:lnTo>
                  <a:pt x="5180064" y="831233"/>
                </a:lnTo>
                <a:cubicBezTo>
                  <a:pt x="5202966" y="819270"/>
                  <a:pt x="5188976" y="863361"/>
                  <a:pt x="5215059" y="865080"/>
                </a:cubicBezTo>
                <a:cubicBezTo>
                  <a:pt x="5235765" y="864786"/>
                  <a:pt x="5236347" y="878098"/>
                  <a:pt x="5245643" y="887119"/>
                </a:cubicBezTo>
                <a:cubicBezTo>
                  <a:pt x="5267660" y="891609"/>
                  <a:pt x="5295742" y="939348"/>
                  <a:pt x="5295952" y="957174"/>
                </a:cubicBezTo>
                <a:cubicBezTo>
                  <a:pt x="5284322" y="1008946"/>
                  <a:pt x="5374979" y="1038019"/>
                  <a:pt x="5367826" y="1079140"/>
                </a:cubicBezTo>
                <a:cubicBezTo>
                  <a:pt x="5371668" y="1089190"/>
                  <a:pt x="5377921" y="1097135"/>
                  <a:pt x="5385646" y="1103730"/>
                </a:cubicBezTo>
                <a:lnTo>
                  <a:pt x="5410965" y="1119397"/>
                </a:lnTo>
                <a:lnTo>
                  <a:pt x="5436960" y="1130910"/>
                </a:lnTo>
                <a:lnTo>
                  <a:pt x="5442083" y="1133134"/>
                </a:lnTo>
                <a:cubicBezTo>
                  <a:pt x="5451910" y="1137346"/>
                  <a:pt x="5457170" y="1169188"/>
                  <a:pt x="5465219" y="1174479"/>
                </a:cubicBezTo>
                <a:cubicBezTo>
                  <a:pt x="5488744" y="1195184"/>
                  <a:pt x="5467141" y="1223401"/>
                  <a:pt x="5488171" y="1238604"/>
                </a:cubicBezTo>
                <a:cubicBezTo>
                  <a:pt x="5523491" y="1271811"/>
                  <a:pt x="5486623" y="1305961"/>
                  <a:pt x="5562172" y="1320840"/>
                </a:cubicBezTo>
                <a:cubicBezTo>
                  <a:pt x="5601634" y="1385316"/>
                  <a:pt x="5636528" y="1453139"/>
                  <a:pt x="5686905" y="1512529"/>
                </a:cubicBezTo>
                <a:cubicBezTo>
                  <a:pt x="5729049" y="1575678"/>
                  <a:pt x="5699691" y="1553768"/>
                  <a:pt x="5748726" y="1623716"/>
                </a:cubicBezTo>
                <a:cubicBezTo>
                  <a:pt x="5783098" y="1689734"/>
                  <a:pt x="5789710" y="1639740"/>
                  <a:pt x="5842593" y="1726595"/>
                </a:cubicBezTo>
                <a:cubicBezTo>
                  <a:pt x="5837824" y="1733043"/>
                  <a:pt x="5862023" y="1845188"/>
                  <a:pt x="5861042" y="1851837"/>
                </a:cubicBezTo>
                <a:cubicBezTo>
                  <a:pt x="5874156" y="1887981"/>
                  <a:pt x="5901790" y="1919218"/>
                  <a:pt x="5921290" y="1943460"/>
                </a:cubicBezTo>
                <a:lnTo>
                  <a:pt x="5978046" y="1997284"/>
                </a:lnTo>
                <a:lnTo>
                  <a:pt x="5992479" y="2056720"/>
                </a:lnTo>
                <a:cubicBezTo>
                  <a:pt x="6011078" y="2079033"/>
                  <a:pt x="6072687" y="2117397"/>
                  <a:pt x="6089639" y="2131171"/>
                </a:cubicBezTo>
                <a:lnTo>
                  <a:pt x="6094199" y="2139379"/>
                </a:lnTo>
                <a:lnTo>
                  <a:pt x="6094822" y="2139386"/>
                </a:lnTo>
                <a:cubicBezTo>
                  <a:pt x="6096947" y="2140841"/>
                  <a:pt x="6098876" y="2143416"/>
                  <a:pt x="6100692" y="2147736"/>
                </a:cubicBezTo>
                <a:lnTo>
                  <a:pt x="6102516" y="2154343"/>
                </a:lnTo>
                <a:lnTo>
                  <a:pt x="6111361" y="2170264"/>
                </a:lnTo>
                <a:lnTo>
                  <a:pt x="6215475" y="2270153"/>
                </a:lnTo>
                <a:lnTo>
                  <a:pt x="6255966" y="2335401"/>
                </a:lnTo>
                <a:lnTo>
                  <a:pt x="6272711" y="2385144"/>
                </a:lnTo>
                <a:cubicBezTo>
                  <a:pt x="6282320" y="2406495"/>
                  <a:pt x="6299066" y="2405139"/>
                  <a:pt x="6304347" y="2439388"/>
                </a:cubicBezTo>
                <a:cubicBezTo>
                  <a:pt x="6297131" y="2486231"/>
                  <a:pt x="6325530" y="2500962"/>
                  <a:pt x="6326729" y="2549400"/>
                </a:cubicBezTo>
                <a:cubicBezTo>
                  <a:pt x="6325926" y="2572066"/>
                  <a:pt x="6339111" y="2599957"/>
                  <a:pt x="6344663" y="2628839"/>
                </a:cubicBezTo>
                <a:lnTo>
                  <a:pt x="6375811" y="2639204"/>
                </a:lnTo>
                <a:cubicBezTo>
                  <a:pt x="6375427" y="2643533"/>
                  <a:pt x="6375041" y="2647863"/>
                  <a:pt x="6374657" y="2652193"/>
                </a:cubicBezTo>
                <a:cubicBezTo>
                  <a:pt x="6373555" y="2658134"/>
                  <a:pt x="6371943" y="2662665"/>
                  <a:pt x="6369740" y="2664642"/>
                </a:cubicBezTo>
                <a:cubicBezTo>
                  <a:pt x="6368032" y="2674540"/>
                  <a:pt x="6371528" y="2686899"/>
                  <a:pt x="6361964" y="2690172"/>
                </a:cubicBezTo>
                <a:cubicBezTo>
                  <a:pt x="6350507" y="2696218"/>
                  <a:pt x="6369375" y="2734440"/>
                  <a:pt x="6355511" y="2727335"/>
                </a:cubicBezTo>
                <a:cubicBezTo>
                  <a:pt x="6358746" y="2734104"/>
                  <a:pt x="6360434" y="2742096"/>
                  <a:pt x="6361058" y="2750592"/>
                </a:cubicBezTo>
                <a:cubicBezTo>
                  <a:pt x="6361013" y="2751998"/>
                  <a:pt x="6360970" y="2753408"/>
                  <a:pt x="6360926" y="2754814"/>
                </a:cubicBezTo>
                <a:lnTo>
                  <a:pt x="6339285" y="2810353"/>
                </a:lnTo>
                <a:cubicBezTo>
                  <a:pt x="6360091" y="2854187"/>
                  <a:pt x="6313103" y="2870086"/>
                  <a:pt x="6325672" y="2908809"/>
                </a:cubicBezTo>
                <a:cubicBezTo>
                  <a:pt x="6341563" y="2966972"/>
                  <a:pt x="6291836" y="2935388"/>
                  <a:pt x="6333498" y="3009772"/>
                </a:cubicBezTo>
                <a:cubicBezTo>
                  <a:pt x="6345476" y="3039254"/>
                  <a:pt x="6345955" y="3068963"/>
                  <a:pt x="6334947" y="3095405"/>
                </a:cubicBezTo>
                <a:lnTo>
                  <a:pt x="6344768" y="3155941"/>
                </a:lnTo>
                <a:cubicBezTo>
                  <a:pt x="6348643" y="3153663"/>
                  <a:pt x="6311793" y="3186588"/>
                  <a:pt x="6314754" y="3197987"/>
                </a:cubicBezTo>
                <a:cubicBezTo>
                  <a:pt x="6318695" y="3221971"/>
                  <a:pt x="6319257" y="3226752"/>
                  <a:pt x="6304230" y="3239690"/>
                </a:cubicBezTo>
                <a:cubicBezTo>
                  <a:pt x="6306321" y="3248567"/>
                  <a:pt x="6307305" y="3254005"/>
                  <a:pt x="6308837" y="3264003"/>
                </a:cubicBezTo>
                <a:cubicBezTo>
                  <a:pt x="6301812" y="3288243"/>
                  <a:pt x="6298529" y="3302527"/>
                  <a:pt x="6309285" y="3324103"/>
                </a:cubicBezTo>
                <a:cubicBezTo>
                  <a:pt x="6301188" y="3343007"/>
                  <a:pt x="6329285" y="3359307"/>
                  <a:pt x="6342503" y="3405661"/>
                </a:cubicBezTo>
                <a:cubicBezTo>
                  <a:pt x="6338012" y="3447477"/>
                  <a:pt x="6408325" y="3505721"/>
                  <a:pt x="6401531" y="3550593"/>
                </a:cubicBezTo>
                <a:cubicBezTo>
                  <a:pt x="6395655" y="3579549"/>
                  <a:pt x="6423437" y="3594758"/>
                  <a:pt x="6427705" y="3624684"/>
                </a:cubicBezTo>
                <a:cubicBezTo>
                  <a:pt x="6416402" y="3629199"/>
                  <a:pt x="6435787" y="3639516"/>
                  <a:pt x="6448424" y="3657106"/>
                </a:cubicBezTo>
                <a:lnTo>
                  <a:pt x="6444014" y="3752742"/>
                </a:lnTo>
                <a:cubicBezTo>
                  <a:pt x="6443990" y="3752777"/>
                  <a:pt x="6443967" y="3752813"/>
                  <a:pt x="6443946" y="3752849"/>
                </a:cubicBezTo>
                <a:lnTo>
                  <a:pt x="0" y="3752849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137" name="Google Shape;137;p5"/>
          <p:cNvSpPr txBox="1"/>
          <p:nvPr>
            <p:ph idx="1" type="body"/>
          </p:nvPr>
        </p:nvSpPr>
        <p:spPr>
          <a:xfrm>
            <a:off x="5714800" y="918024"/>
            <a:ext cx="6237600" cy="48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-ES" sz="1800"/>
              <a:t>Identificar </a:t>
            </a:r>
            <a:r>
              <a:rPr b="1" lang="es-ES" sz="1800"/>
              <a:t>patrones de concentración</a:t>
            </a:r>
            <a:r>
              <a:rPr lang="es-ES" sz="1800"/>
              <a:t> en la producción de café por país. Comparar la </a:t>
            </a:r>
            <a:r>
              <a:rPr b="1" lang="es-ES" sz="1800"/>
              <a:t>distribución del consumo doméstico</a:t>
            </a:r>
            <a:r>
              <a:rPr lang="es-ES" sz="1800"/>
              <a:t> entre productores y consumidores.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ES" sz="1800"/>
              <a:t>Analizar el </a:t>
            </a:r>
            <a:r>
              <a:rPr b="1" lang="es-ES" sz="1800"/>
              <a:t>comercio internacional</a:t>
            </a:r>
            <a:r>
              <a:rPr lang="es-ES" sz="1800"/>
              <a:t> para ver qué países concentran las exportaciones.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ES" sz="1800"/>
              <a:t>Integrar estas variables en un </a:t>
            </a:r>
            <a:r>
              <a:rPr b="1" lang="es-ES" sz="1800"/>
              <a:t>análisis multivariante</a:t>
            </a:r>
            <a:r>
              <a:rPr lang="es-ES" sz="1800"/>
              <a:t> para definir perfiles de países y entender la </a:t>
            </a:r>
            <a:r>
              <a:rPr b="1" lang="es-ES" sz="1800"/>
              <a:t>orientación global del valor del café</a:t>
            </a:r>
            <a:r>
              <a:rPr lang="es-ES" sz="1800"/>
              <a:t>.</a:t>
            </a:r>
            <a:endParaRPr sz="2500"/>
          </a:p>
          <a:p>
            <a:pPr indent="0" lvl="0" marL="228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1397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usiness Idea, Planning, Smart Idea, Innovation Icon (proporcionado por Getty Images)" id="142" name="Google Shape;142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22025" y="2988025"/>
            <a:ext cx="3869972" cy="3869972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6"/>
          <p:cNvSpPr txBox="1"/>
          <p:nvPr>
            <p:ph type="title"/>
          </p:nvPr>
        </p:nvSpPr>
        <p:spPr>
          <a:xfrm>
            <a:off x="511617" y="1"/>
            <a:ext cx="10842300" cy="8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lang="es-ES"/>
              <a:t>HIPÓTESIS</a:t>
            </a:r>
            <a:endParaRPr b="1"/>
          </a:p>
        </p:txBody>
      </p:sp>
      <p:sp>
        <p:nvSpPr>
          <p:cNvPr id="144" name="Google Shape;144;p6"/>
          <p:cNvSpPr txBox="1"/>
          <p:nvPr/>
        </p:nvSpPr>
        <p:spPr>
          <a:xfrm>
            <a:off x="577018" y="639614"/>
            <a:ext cx="10711500" cy="6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H1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✔️ Análisis Univariante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valor total del café no se distribuye de forma homogénea entre los países productores.</a:t>
            </a:r>
            <a:br>
              <a:rPr b="0" i="0" lang="es-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s-ES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➡️</a:t>
            </a:r>
            <a:r>
              <a:rPr b="0" i="0" lang="es-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 verifica comparando valores agregados por país.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H2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✔️ Análisis Bivariante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Existe una relación positiva entre el volumen de producción de un país y su volumen de exportación de café.</a:t>
            </a:r>
            <a:r>
              <a:rPr b="0" i="1" lang="es-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attrocento Sans"/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➡️</a:t>
            </a:r>
            <a:r>
              <a:rPr b="0" i="0" lang="es-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Producción vs. exportaciones</a:t>
            </a:r>
            <a:br>
              <a:rPr b="0" i="0" lang="es-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s-ES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➡️</a:t>
            </a:r>
            <a:r>
              <a:rPr b="0" i="0" lang="es-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Ideal para análisis bivariante (scatter + correlación)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attrocento Sans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attrocento Sans"/>
              <a:buNone/>
            </a:pPr>
            <a:r>
              <a:rPr lang="es-ES" sz="1800">
                <a:solidFill>
                  <a:schemeClr val="dk1"/>
                </a:solidFill>
              </a:rPr>
              <a:t> “Los países productores de Arábica concentran un mayor valor total que los productores de Robusta.”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attrocento Sans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attrocento Sans"/>
              <a:buNone/>
            </a:pPr>
            <a:r>
              <a:rPr lang="es-ES" sz="1800">
                <a:solidFill>
                  <a:schemeClr val="dk1"/>
                </a:solidFill>
              </a:rPr>
              <a:t>H3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attrocento Sans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✔️ Análisis Multivariante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s-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Los países con mayor producción de café no son necesariamente los mayores consumidores internos.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attrocento Sans"/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➡️</a:t>
            </a:r>
            <a:r>
              <a:rPr b="0" i="0" lang="es-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Medible: producción vs. consumo</a:t>
            </a:r>
            <a:br>
              <a:rPr b="0" i="0" lang="es-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s-ES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➡️</a:t>
            </a:r>
            <a:r>
              <a:rPr b="0" i="0" lang="es-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Dataset: production + domestic_consumption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"/>
          <p:cNvSpPr/>
          <p:nvPr/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1" name="Google Shape;151;p8"/>
          <p:cNvGrpSpPr/>
          <p:nvPr/>
        </p:nvGrpSpPr>
        <p:grpSpPr>
          <a:xfrm>
            <a:off x="0" y="12929"/>
            <a:ext cx="12188952" cy="3490956"/>
            <a:chOff x="651279" y="598259"/>
            <a:chExt cx="10889442" cy="5680742"/>
          </a:xfrm>
        </p:grpSpPr>
        <p:sp>
          <p:nvSpPr>
            <p:cNvPr id="152" name="Google Shape;152;p8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8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rgbClr val="6D4C3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Globo terráqueo: América con relleno sólido" id="154" name="Google Shape;15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05030" y="1065276"/>
            <a:ext cx="4727448" cy="472744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5" name="Google Shape;155;p8"/>
          <p:cNvGrpSpPr/>
          <p:nvPr/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56" name="Google Shape;156;p8"/>
            <p:cNvSpPr/>
            <p:nvPr/>
          </p:nvSpPr>
          <p:spPr>
            <a:xfrm>
              <a:off x="26122" y="6015669"/>
              <a:ext cx="2605762" cy="842331"/>
            </a:xfrm>
            <a:custGeom>
              <a:rect b="b" l="l" r="r" t="t"/>
              <a:pathLst>
                <a:path extrusionOk="0" h="1033951" w="3180577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lt1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8"/>
            <p:cNvSpPr/>
            <p:nvPr/>
          </p:nvSpPr>
          <p:spPr>
            <a:xfrm>
              <a:off x="655184" y="5798001"/>
              <a:ext cx="2485581" cy="1059999"/>
            </a:xfrm>
            <a:custGeom>
              <a:rect b="b" l="l" r="r" t="t"/>
              <a:pathLst>
                <a:path extrusionOk="0" h="1050628" w="244976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8"/>
            <p:cNvSpPr/>
            <p:nvPr/>
          </p:nvSpPr>
          <p:spPr>
            <a:xfrm>
              <a:off x="3474720" y="0"/>
              <a:ext cx="6177282" cy="1778750"/>
            </a:xfrm>
            <a:custGeom>
              <a:rect b="b" l="l" r="r" t="t"/>
              <a:pathLst>
                <a:path extrusionOk="0" h="1849426" w="6386648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lt1">
                <a:alpha val="4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8"/>
            <p:cNvSpPr/>
            <p:nvPr/>
          </p:nvSpPr>
          <p:spPr>
            <a:xfrm>
              <a:off x="0" y="2390523"/>
              <a:ext cx="611491" cy="1421482"/>
            </a:xfrm>
            <a:custGeom>
              <a:rect b="b" l="l" r="r" t="t"/>
              <a:pathLst>
                <a:path extrusionOk="0" h="1429512" w="611491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8"/>
            <p:cNvSpPr/>
            <p:nvPr/>
          </p:nvSpPr>
          <p:spPr>
            <a:xfrm>
              <a:off x="3792772" y="0"/>
              <a:ext cx="2423863" cy="1343767"/>
            </a:xfrm>
            <a:custGeom>
              <a:rect b="b" l="l" r="r" t="t"/>
              <a:pathLst>
                <a:path extrusionOk="0" h="1681468" w="3015964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lt1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8"/>
            <p:cNvSpPr/>
            <p:nvPr/>
          </p:nvSpPr>
          <p:spPr>
            <a:xfrm>
              <a:off x="10946850" y="0"/>
              <a:ext cx="1242102" cy="2620884"/>
            </a:xfrm>
            <a:custGeom>
              <a:rect b="b" l="l" r="r" t="t"/>
              <a:pathLst>
                <a:path extrusionOk="0" h="2635689" w="1242102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lt1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8"/>
            <p:cNvSpPr/>
            <p:nvPr/>
          </p:nvSpPr>
          <p:spPr>
            <a:xfrm>
              <a:off x="0" y="0"/>
              <a:ext cx="1577788" cy="980141"/>
            </a:xfrm>
            <a:custGeom>
              <a:rect b="b" l="l" r="r" t="t"/>
              <a:pathLst>
                <a:path extrusionOk="0" h="795676" w="1471018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3" name="Google Shape;163;p8"/>
          <p:cNvSpPr txBox="1"/>
          <p:nvPr>
            <p:ph type="title"/>
          </p:nvPr>
        </p:nvSpPr>
        <p:spPr>
          <a:xfrm>
            <a:off x="786384" y="841249"/>
            <a:ext cx="5692953" cy="25871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</a:pPr>
            <a:r>
              <a:rPr b="1" lang="es-ES" sz="4800">
                <a:solidFill>
                  <a:schemeClr val="lt1"/>
                </a:solidFill>
              </a:rPr>
              <a:t>DATOS REALES DEL MERCADO GLOBAL DEL CAFÉ</a:t>
            </a:r>
            <a:endParaRPr b="1"/>
          </a:p>
        </p:txBody>
      </p:sp>
      <p:sp>
        <p:nvSpPr>
          <p:cNvPr id="164" name="Google Shape;164;p8"/>
          <p:cNvSpPr txBox="1"/>
          <p:nvPr>
            <p:ph idx="1" type="body"/>
          </p:nvPr>
        </p:nvSpPr>
        <p:spPr>
          <a:xfrm>
            <a:off x="786384" y="3578941"/>
            <a:ext cx="5692952" cy="27137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1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s-ES" sz="1600">
                <a:solidFill>
                  <a:schemeClr val="dk2"/>
                </a:solidFill>
              </a:rPr>
              <a:t>Información por país y año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s-ES" sz="1600">
                <a:solidFill>
                  <a:schemeClr val="dk2"/>
                </a:solidFill>
              </a:rPr>
              <a:t>Datos históricos (series temporales)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s-ES" sz="1600">
                <a:solidFill>
                  <a:schemeClr val="dk2"/>
                </a:solidFill>
              </a:rPr>
              <a:t>Magnitudes expresadas en miles de sacos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s-ES" sz="1600">
                <a:solidFill>
                  <a:schemeClr val="dk2"/>
                </a:solidFill>
              </a:rPr>
              <a:t>Cobertura: producción, consumo y comercio</a:t>
            </a:r>
            <a:endParaRPr sz="1600">
              <a:solidFill>
                <a:schemeClr val="dk2"/>
              </a:solidFill>
            </a:endParaRPr>
          </a:p>
          <a:p>
            <a:pPr indent="0" lvl="0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2"/>
                </a:solidFill>
              </a:rPr>
              <a:t> 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s-ES" sz="1600"/>
              <a:t>Gracias a estos datos, podemos analizar relaciones entre producción, consumo y comercio internacional del café.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165" name="Google Shape;165;p8"/>
          <p:cNvSpPr txBox="1"/>
          <p:nvPr/>
        </p:nvSpPr>
        <p:spPr>
          <a:xfrm>
            <a:off x="7568279" y="6015669"/>
            <a:ext cx="60960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Fuente:</a:t>
            </a:r>
            <a:r>
              <a:rPr b="0" i="0" lang="es-E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International Coffee Organization (ICO) – Kaggle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"/>
          <p:cNvSpPr txBox="1"/>
          <p:nvPr>
            <p:ph type="title"/>
          </p:nvPr>
        </p:nvSpPr>
        <p:spPr>
          <a:xfrm>
            <a:off x="838200" y="365125"/>
            <a:ext cx="109785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lang="es-ES"/>
              <a:t>LIMPIEZA Y PROCESADO DE LOS DATOS</a:t>
            </a:r>
            <a:endParaRPr b="1"/>
          </a:p>
        </p:txBody>
      </p:sp>
      <p:grpSp>
        <p:nvGrpSpPr>
          <p:cNvPr id="171" name="Google Shape;171;p9"/>
          <p:cNvGrpSpPr/>
          <p:nvPr/>
        </p:nvGrpSpPr>
        <p:grpSpPr>
          <a:xfrm>
            <a:off x="846261" y="1831604"/>
            <a:ext cx="10499477" cy="4339379"/>
            <a:chOff x="8061" y="5979"/>
            <a:chExt cx="10499477" cy="4339379"/>
          </a:xfrm>
        </p:grpSpPr>
        <p:sp>
          <p:nvSpPr>
            <p:cNvPr id="172" name="Google Shape;172;p9"/>
            <p:cNvSpPr/>
            <p:nvPr/>
          </p:nvSpPr>
          <p:spPr>
            <a:xfrm>
              <a:off x="3040792" y="870618"/>
              <a:ext cx="667342" cy="9144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</a:path>
              </a:pathLst>
            </a:custGeom>
            <a:noFill/>
            <a:ln cap="flat" cmpd="sng" w="12700">
              <a:solidFill>
                <a:srgbClr val="126082"/>
              </a:solidFill>
              <a:prstDash val="solid"/>
              <a:miter lim="800000"/>
              <a:headEnd len="sm" w="sm" type="none"/>
              <a:tailEnd len="med" w="med" type="stealth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9"/>
            <p:cNvSpPr txBox="1"/>
            <p:nvPr/>
          </p:nvSpPr>
          <p:spPr>
            <a:xfrm>
              <a:off x="3357014" y="912848"/>
              <a:ext cx="34897" cy="69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2700" spcFirstLastPara="1" rIns="1270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"/>
                <a:buFont typeface="Arial"/>
                <a:buNone/>
              </a:pPr>
              <a:r>
                <a:t/>
              </a:r>
              <a:endParaRPr sz="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9"/>
            <p:cNvSpPr/>
            <p:nvPr/>
          </p:nvSpPr>
          <p:spPr>
            <a:xfrm>
              <a:off x="8061" y="5979"/>
              <a:ext cx="3034531" cy="1820718"/>
            </a:xfrm>
            <a:prstGeom prst="rect">
              <a:avLst/>
            </a:prstGeom>
            <a:solidFill>
              <a:srgbClr val="126082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9"/>
            <p:cNvSpPr txBox="1"/>
            <p:nvPr/>
          </p:nvSpPr>
          <p:spPr>
            <a:xfrm>
              <a:off x="8061" y="5979"/>
              <a:ext cx="3034531" cy="1820718"/>
            </a:xfrm>
            <a:prstGeom prst="rect">
              <a:avLst/>
            </a:prstGeom>
            <a:solidFill>
              <a:srgbClr val="727D71"/>
            </a:solidFill>
            <a:ln>
              <a:noFill/>
            </a:ln>
          </p:spPr>
          <p:txBody>
            <a:bodyPr anchorCtr="0" anchor="ctr" bIns="156075" lIns="148675" spcFirstLastPara="1" rIns="148675" wrap="square" tIns="1560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1" lang="es-ES" sz="2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Antes del análisis</a:t>
              </a:r>
              <a:r>
                <a:rPr b="1" lang="es-ES" sz="2000">
                  <a:solidFill>
                    <a:schemeClr val="lt1"/>
                  </a:solidFill>
                </a:rPr>
                <a:t>,</a:t>
              </a:r>
              <a:r>
                <a:rPr b="1" lang="es-ES" sz="2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los datos fueron preparados para garantizar calidad y consistencia.</a:t>
              </a:r>
              <a:endPara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9"/>
            <p:cNvSpPr/>
            <p:nvPr/>
          </p:nvSpPr>
          <p:spPr>
            <a:xfrm>
              <a:off x="6773265" y="870618"/>
              <a:ext cx="667342" cy="9144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</a:path>
              </a:pathLst>
            </a:custGeom>
            <a:noFill/>
            <a:ln cap="flat" cmpd="sng" w="12700">
              <a:solidFill>
                <a:srgbClr val="126082"/>
              </a:solidFill>
              <a:prstDash val="solid"/>
              <a:miter lim="800000"/>
              <a:headEnd len="sm" w="sm" type="none"/>
              <a:tailEnd len="med" w="med" type="stealth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9"/>
            <p:cNvSpPr txBox="1"/>
            <p:nvPr/>
          </p:nvSpPr>
          <p:spPr>
            <a:xfrm>
              <a:off x="7089488" y="912848"/>
              <a:ext cx="34897" cy="69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2700" spcFirstLastPara="1" rIns="1270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"/>
                <a:buFont typeface="Arial"/>
                <a:buNone/>
              </a:pPr>
              <a:r>
                <a:t/>
              </a:r>
              <a:endParaRPr sz="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9"/>
            <p:cNvSpPr/>
            <p:nvPr/>
          </p:nvSpPr>
          <p:spPr>
            <a:xfrm>
              <a:off x="3740534" y="5979"/>
              <a:ext cx="3034531" cy="1820718"/>
            </a:xfrm>
            <a:prstGeom prst="rect">
              <a:avLst/>
            </a:prstGeom>
            <a:solidFill>
              <a:srgbClr val="126082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9"/>
            <p:cNvSpPr txBox="1"/>
            <p:nvPr/>
          </p:nvSpPr>
          <p:spPr>
            <a:xfrm>
              <a:off x="3740534" y="5979"/>
              <a:ext cx="3034531" cy="1820718"/>
            </a:xfrm>
            <a:prstGeom prst="rect">
              <a:avLst/>
            </a:prstGeom>
            <a:solidFill>
              <a:srgbClr val="ABC4AB"/>
            </a:solidFill>
            <a:ln>
              <a:noFill/>
            </a:ln>
          </p:spPr>
          <p:txBody>
            <a:bodyPr anchorCtr="0" anchor="ctr" bIns="156075" lIns="148675" spcFirstLastPara="1" rIns="148675" wrap="square" tIns="1560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lang="es-E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Transformación de los datasets a </a:t>
              </a:r>
              <a:r>
                <a:rPr b="1" lang="es-E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formato largo</a:t>
              </a:r>
              <a:r>
                <a:rPr lang="es-E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, facilitando el análisis temporal.</a:t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9"/>
            <p:cNvSpPr/>
            <p:nvPr/>
          </p:nvSpPr>
          <p:spPr>
            <a:xfrm>
              <a:off x="1525326" y="1824897"/>
              <a:ext cx="7464946" cy="667342"/>
            </a:xfrm>
            <a:custGeom>
              <a:rect b="b" l="l" r="r" t="t"/>
              <a:pathLst>
                <a:path extrusionOk="0" h="120000" w="120000">
                  <a:moveTo>
                    <a:pt x="120000" y="0"/>
                  </a:moveTo>
                  <a:lnTo>
                    <a:pt x="120000" y="63075"/>
                  </a:lnTo>
                  <a:lnTo>
                    <a:pt x="0" y="63075"/>
                  </a:lnTo>
                  <a:lnTo>
                    <a:pt x="0" y="120000"/>
                  </a:lnTo>
                </a:path>
              </a:pathLst>
            </a:custGeom>
            <a:noFill/>
            <a:ln cap="flat" cmpd="sng" w="12700">
              <a:solidFill>
                <a:srgbClr val="126082"/>
              </a:solidFill>
              <a:prstDash val="solid"/>
              <a:miter lim="800000"/>
              <a:headEnd len="sm" w="sm" type="none"/>
              <a:tailEnd len="med" w="med" type="stealth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9"/>
            <p:cNvSpPr txBox="1"/>
            <p:nvPr/>
          </p:nvSpPr>
          <p:spPr>
            <a:xfrm>
              <a:off x="5070362" y="2155079"/>
              <a:ext cx="374875" cy="69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2700" spcFirstLastPara="1" rIns="1270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"/>
                <a:buFont typeface="Arial"/>
                <a:buNone/>
              </a:pPr>
              <a:r>
                <a:t/>
              </a:r>
              <a:endParaRPr sz="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9"/>
            <p:cNvSpPr/>
            <p:nvPr/>
          </p:nvSpPr>
          <p:spPr>
            <a:xfrm>
              <a:off x="7473007" y="5979"/>
              <a:ext cx="3034531" cy="1820718"/>
            </a:xfrm>
            <a:prstGeom prst="rect">
              <a:avLst/>
            </a:prstGeom>
            <a:solidFill>
              <a:srgbClr val="126082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9"/>
            <p:cNvSpPr txBox="1"/>
            <p:nvPr/>
          </p:nvSpPr>
          <p:spPr>
            <a:xfrm>
              <a:off x="7473007" y="5979"/>
              <a:ext cx="3034531" cy="1820718"/>
            </a:xfrm>
            <a:prstGeom prst="rect">
              <a:avLst/>
            </a:prstGeom>
            <a:solidFill>
              <a:srgbClr val="A39171"/>
            </a:solidFill>
            <a:ln>
              <a:noFill/>
            </a:ln>
          </p:spPr>
          <p:txBody>
            <a:bodyPr anchorCtr="0" anchor="ctr" bIns="156075" lIns="148675" spcFirstLastPara="1" rIns="148675" wrap="square" tIns="1560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1" lang="es-E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Estandarización de nombres de columnas</a:t>
              </a:r>
              <a:r>
                <a:rPr lang="es-E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para mantener coherencia</a:t>
              </a:r>
              <a:r>
                <a:rPr lang="es-ES" sz="2000">
                  <a:solidFill>
                    <a:schemeClr val="dk1"/>
                  </a:solidFill>
                </a:rPr>
                <a:t>.</a:t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9"/>
            <p:cNvSpPr/>
            <p:nvPr/>
          </p:nvSpPr>
          <p:spPr>
            <a:xfrm>
              <a:off x="3040792" y="3389279"/>
              <a:ext cx="667342" cy="9144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</a:path>
              </a:pathLst>
            </a:custGeom>
            <a:noFill/>
            <a:ln cap="flat" cmpd="sng" w="12700">
              <a:solidFill>
                <a:srgbClr val="126082"/>
              </a:solidFill>
              <a:prstDash val="solid"/>
              <a:miter lim="800000"/>
              <a:headEnd len="sm" w="sm" type="none"/>
              <a:tailEnd len="med" w="med" type="stealth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9"/>
            <p:cNvSpPr txBox="1"/>
            <p:nvPr/>
          </p:nvSpPr>
          <p:spPr>
            <a:xfrm>
              <a:off x="3357014" y="3431509"/>
              <a:ext cx="34897" cy="69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2700" spcFirstLastPara="1" rIns="1270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"/>
                <a:buFont typeface="Arial"/>
                <a:buNone/>
              </a:pPr>
              <a:r>
                <a:t/>
              </a:r>
              <a:endParaRPr sz="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9"/>
            <p:cNvSpPr/>
            <p:nvPr/>
          </p:nvSpPr>
          <p:spPr>
            <a:xfrm>
              <a:off x="8061" y="2524640"/>
              <a:ext cx="3034531" cy="1820718"/>
            </a:xfrm>
            <a:prstGeom prst="rect">
              <a:avLst/>
            </a:prstGeom>
            <a:solidFill>
              <a:srgbClr val="126082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9"/>
            <p:cNvSpPr txBox="1"/>
            <p:nvPr/>
          </p:nvSpPr>
          <p:spPr>
            <a:xfrm>
              <a:off x="8061" y="2524640"/>
              <a:ext cx="3034531" cy="1820718"/>
            </a:xfrm>
            <a:prstGeom prst="rect">
              <a:avLst/>
            </a:prstGeom>
            <a:solidFill>
              <a:srgbClr val="6D4C3D"/>
            </a:solidFill>
            <a:ln>
              <a:noFill/>
            </a:ln>
          </p:spPr>
          <p:txBody>
            <a:bodyPr anchorCtr="0" anchor="ctr" bIns="156075" lIns="148675" spcFirstLastPara="1" rIns="148675" wrap="square" tIns="1560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lang="es-ES" sz="2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Conversión de variables a </a:t>
              </a:r>
              <a:r>
                <a:rPr b="1" lang="es-ES" sz="2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formatos numéricos adecuados</a:t>
              </a:r>
              <a:r>
                <a:rPr lang="es-ES" sz="2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9"/>
            <p:cNvSpPr/>
            <p:nvPr/>
          </p:nvSpPr>
          <p:spPr>
            <a:xfrm>
              <a:off x="6773265" y="3389279"/>
              <a:ext cx="667342" cy="9144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</a:path>
              </a:pathLst>
            </a:custGeom>
            <a:noFill/>
            <a:ln cap="flat" cmpd="sng" w="12700">
              <a:solidFill>
                <a:srgbClr val="126082"/>
              </a:solidFill>
              <a:prstDash val="solid"/>
              <a:miter lim="800000"/>
              <a:headEnd len="sm" w="sm" type="none"/>
              <a:tailEnd len="med" w="med" type="stealth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9"/>
            <p:cNvSpPr txBox="1"/>
            <p:nvPr/>
          </p:nvSpPr>
          <p:spPr>
            <a:xfrm>
              <a:off x="7089488" y="3431509"/>
              <a:ext cx="34897" cy="69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2700" spcFirstLastPara="1" rIns="1270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"/>
                <a:buFont typeface="Arial"/>
                <a:buNone/>
              </a:pPr>
              <a:r>
                <a:t/>
              </a:r>
              <a:endParaRPr sz="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9"/>
            <p:cNvSpPr/>
            <p:nvPr/>
          </p:nvSpPr>
          <p:spPr>
            <a:xfrm>
              <a:off x="3740534" y="2524640"/>
              <a:ext cx="3034531" cy="1820718"/>
            </a:xfrm>
            <a:prstGeom prst="rect">
              <a:avLst/>
            </a:prstGeom>
            <a:solidFill>
              <a:srgbClr val="126082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9"/>
            <p:cNvSpPr txBox="1"/>
            <p:nvPr/>
          </p:nvSpPr>
          <p:spPr>
            <a:xfrm>
              <a:off x="3740534" y="2524640"/>
              <a:ext cx="3034531" cy="1820718"/>
            </a:xfrm>
            <a:prstGeom prst="rect">
              <a:avLst/>
            </a:prstGeom>
            <a:solidFill>
              <a:srgbClr val="DCC9B6"/>
            </a:solidFill>
            <a:ln>
              <a:noFill/>
            </a:ln>
          </p:spPr>
          <p:txBody>
            <a:bodyPr anchorCtr="0" anchor="ctr" bIns="156075" lIns="148675" spcFirstLastPara="1" rIns="148675" wrap="square" tIns="1560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lang="es-E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Eliminación de </a:t>
              </a:r>
              <a:r>
                <a:rPr b="1" lang="es-E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valores nulos o no informativos</a:t>
              </a:r>
              <a:r>
                <a:rPr lang="es-E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9"/>
            <p:cNvSpPr/>
            <p:nvPr/>
          </p:nvSpPr>
          <p:spPr>
            <a:xfrm>
              <a:off x="7473007" y="2524640"/>
              <a:ext cx="3034531" cy="1820718"/>
            </a:xfrm>
            <a:prstGeom prst="rect">
              <a:avLst/>
            </a:prstGeom>
            <a:solidFill>
              <a:srgbClr val="126082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9"/>
            <p:cNvSpPr txBox="1"/>
            <p:nvPr/>
          </p:nvSpPr>
          <p:spPr>
            <a:xfrm>
              <a:off x="7473007" y="2524640"/>
              <a:ext cx="3034531" cy="1820718"/>
            </a:xfrm>
            <a:prstGeom prst="rect">
              <a:avLst/>
            </a:prstGeom>
            <a:solidFill>
              <a:srgbClr val="49111C"/>
            </a:solidFill>
            <a:ln>
              <a:noFill/>
            </a:ln>
          </p:spPr>
          <p:txBody>
            <a:bodyPr anchorCtr="0" anchor="ctr" bIns="156075" lIns="148675" spcFirstLastPara="1" rIns="148675" wrap="square" tIns="1560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lang="es-ES" sz="2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Agregación de datos por </a:t>
              </a:r>
              <a:r>
                <a:rPr b="1" lang="es-ES" sz="2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país y periodo temporal</a:t>
              </a:r>
              <a:r>
                <a:rPr lang="es-ES" sz="2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0" y="0"/>
            <a:ext cx="5653438" cy="6858000"/>
          </a:xfrm>
          <a:custGeom>
            <a:rect b="b" l="l" r="r" t="t"/>
            <a:pathLst>
              <a:path extrusionOk="0" h="6858000" w="6096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6D4C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0"/>
          <p:cNvSpPr txBox="1"/>
          <p:nvPr>
            <p:ph type="title"/>
          </p:nvPr>
        </p:nvSpPr>
        <p:spPr>
          <a:xfrm>
            <a:off x="838200" y="609600"/>
            <a:ext cx="4369800" cy="13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lang="es-ES">
                <a:solidFill>
                  <a:schemeClr val="lt1"/>
                </a:solidFill>
              </a:rPr>
              <a:t>TOP 10 PRODUCCIÓN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01" name="Google Shape;201;p10"/>
          <p:cNvSpPr txBox="1"/>
          <p:nvPr>
            <p:ph idx="1" type="body"/>
          </p:nvPr>
        </p:nvSpPr>
        <p:spPr>
          <a:xfrm>
            <a:off x="862375" y="2194101"/>
            <a:ext cx="3426900" cy="22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s-ES" sz="2000">
                <a:solidFill>
                  <a:schemeClr val="lt1"/>
                </a:solidFill>
              </a:rPr>
              <a:t>Se observa que un número reducido de países concentra los mayores volúmenes de producción, lo que sugiere una distribución desigual del valor asociado al café.</a:t>
            </a:r>
            <a:endParaRPr>
              <a:solidFill>
                <a:schemeClr val="lt1"/>
              </a:solidFill>
            </a:endParaRPr>
          </a:p>
          <a:p>
            <a:pPr indent="-101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</p:txBody>
      </p:sp>
      <p:pic>
        <p:nvPicPr>
          <p:cNvPr descr="Gráfico, Gráfico de barras&#10;&#10;El contenido generado por IA puede ser incorrecto." id="202" name="Google Shape;202;p10"/>
          <p:cNvPicPr preferRelativeResize="0"/>
          <p:nvPr/>
        </p:nvPicPr>
        <p:blipFill rotWithShape="1">
          <a:blip r:embed="rId3">
            <a:alphaModFix/>
          </a:blip>
          <a:srcRect b="0" l="773" r="0" t="1302"/>
          <a:stretch/>
        </p:blipFill>
        <p:spPr>
          <a:xfrm>
            <a:off x="5493350" y="1649800"/>
            <a:ext cx="6107250" cy="362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1"/>
          <p:cNvSpPr/>
          <p:nvPr/>
        </p:nvSpPr>
        <p:spPr>
          <a:xfrm>
            <a:off x="0" y="0"/>
            <a:ext cx="5653438" cy="6858000"/>
          </a:xfrm>
          <a:custGeom>
            <a:rect b="b" l="l" r="r" t="t"/>
            <a:pathLst>
              <a:path extrusionOk="0" h="6858000" w="6096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DCC9B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1"/>
          <p:cNvSpPr txBox="1"/>
          <p:nvPr>
            <p:ph type="title"/>
          </p:nvPr>
        </p:nvSpPr>
        <p:spPr>
          <a:xfrm>
            <a:off x="358250" y="609600"/>
            <a:ext cx="5032500" cy="13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b="1" lang="es-ES"/>
              <a:t>CONCENTRACIÓN ACUMULADA</a:t>
            </a:r>
            <a:endParaRPr sz="5200"/>
          </a:p>
        </p:txBody>
      </p:sp>
      <p:sp>
        <p:nvSpPr>
          <p:cNvPr id="210" name="Google Shape;210;p11"/>
          <p:cNvSpPr txBox="1"/>
          <p:nvPr>
            <p:ph idx="1" type="body"/>
          </p:nvPr>
        </p:nvSpPr>
        <p:spPr>
          <a:xfrm>
            <a:off x="862366" y="2194102"/>
            <a:ext cx="3427001" cy="39085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pPr>
            <a:r>
              <a:rPr lang="es-ES" sz="1900"/>
              <a:t>La curva de concentración evidencia que 8 países concentran más del 80% de la producción total mundial de café. Esta relación confirma que la producción no se distribuye de forma homogénea entre los países productores.</a:t>
            </a:r>
            <a:endParaRPr/>
          </a:p>
        </p:txBody>
      </p:sp>
      <p:pic>
        <p:nvPicPr>
          <p:cNvPr id="211" name="Google Shape;211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90750" y="1786771"/>
            <a:ext cx="6573625" cy="42425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2"/>
          <p:cNvSpPr/>
          <p:nvPr/>
        </p:nvSpPr>
        <p:spPr>
          <a:xfrm>
            <a:off x="0" y="0"/>
            <a:ext cx="5653438" cy="6858000"/>
          </a:xfrm>
          <a:custGeom>
            <a:rect b="b" l="l" r="r" t="t"/>
            <a:pathLst>
              <a:path extrusionOk="0" h="6858000" w="6096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ABC4A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2"/>
          <p:cNvSpPr txBox="1"/>
          <p:nvPr>
            <p:ph type="title"/>
          </p:nvPr>
        </p:nvSpPr>
        <p:spPr>
          <a:xfrm>
            <a:off x="791425" y="184875"/>
            <a:ext cx="4879500" cy="194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b="1" lang="es-ES"/>
              <a:t>TOP 10 CONSUMIDORES DE </a:t>
            </a:r>
            <a:r>
              <a:rPr b="1" lang="es-ES"/>
              <a:t>CAFÉ</a:t>
            </a:r>
            <a:endParaRPr/>
          </a:p>
        </p:txBody>
      </p:sp>
      <p:sp>
        <p:nvSpPr>
          <p:cNvPr id="219" name="Google Shape;219;p12"/>
          <p:cNvSpPr txBox="1"/>
          <p:nvPr>
            <p:ph idx="1" type="body"/>
          </p:nvPr>
        </p:nvSpPr>
        <p:spPr>
          <a:xfrm>
            <a:off x="791425" y="2260850"/>
            <a:ext cx="3426900" cy="3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</a:pPr>
            <a:r>
              <a:rPr lang="es-ES" sz="1800"/>
              <a:t>El consumo doméstico total de café está </a:t>
            </a:r>
            <a:r>
              <a:rPr b="1" lang="es-ES" sz="1800"/>
              <a:t>concentrado en pocos países</a:t>
            </a:r>
            <a:r>
              <a:rPr lang="es-ES" sz="1800"/>
              <a:t>. Esta concentración refleja que la </a:t>
            </a:r>
            <a:r>
              <a:rPr b="1" lang="es-ES" sz="1800"/>
              <a:t>demanda global</a:t>
            </a:r>
            <a:r>
              <a:rPr lang="es-ES" sz="1800"/>
              <a:t> también es desigual.</a:t>
            </a:r>
            <a:endParaRPr sz="1800"/>
          </a:p>
          <a:p>
            <a:pPr indent="-2286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s-ES" sz="1800"/>
              <a:t>El patrón refuerza la </a:t>
            </a:r>
            <a:r>
              <a:rPr b="1" lang="es-ES" sz="1800"/>
              <a:t>desigualdad estructural</a:t>
            </a:r>
            <a:r>
              <a:rPr lang="es-ES" sz="1800"/>
              <a:t> del mercado internacional del café.</a:t>
            </a:r>
            <a:endParaRPr sz="1800"/>
          </a:p>
        </p:txBody>
      </p:sp>
      <p:pic>
        <p:nvPicPr>
          <p:cNvPr descr="Gráfico, Gráfico de barras, Histograma&#10;&#10;El contenido generado por IA puede ser incorrecto." id="220" name="Google Shape;220;p12"/>
          <p:cNvPicPr preferRelativeResize="0"/>
          <p:nvPr/>
        </p:nvPicPr>
        <p:blipFill rotWithShape="1">
          <a:blip r:embed="rId3">
            <a:alphaModFix/>
          </a:blip>
          <a:srcRect b="0" l="985" r="1434" t="0"/>
          <a:stretch/>
        </p:blipFill>
        <p:spPr>
          <a:xfrm>
            <a:off x="5595675" y="1715950"/>
            <a:ext cx="6489576" cy="402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4"/>
          <p:cNvSpPr/>
          <p:nvPr/>
        </p:nvSpPr>
        <p:spPr>
          <a:xfrm>
            <a:off x="0" y="0"/>
            <a:ext cx="6741994" cy="6858000"/>
          </a:xfrm>
          <a:custGeom>
            <a:rect b="b" l="l" r="r" t="t"/>
            <a:pathLst>
              <a:path extrusionOk="0" h="6858000" w="6568309">
                <a:moveTo>
                  <a:pt x="0" y="0"/>
                </a:moveTo>
                <a:lnTo>
                  <a:pt x="362841" y="0"/>
                </a:lnTo>
                <a:lnTo>
                  <a:pt x="523269" y="0"/>
                </a:lnTo>
                <a:lnTo>
                  <a:pt x="1343025" y="0"/>
                </a:lnTo>
                <a:lnTo>
                  <a:pt x="1705866" y="0"/>
                </a:lnTo>
                <a:lnTo>
                  <a:pt x="1866294" y="0"/>
                </a:lnTo>
                <a:lnTo>
                  <a:pt x="5225154" y="0"/>
                </a:lnTo>
                <a:lnTo>
                  <a:pt x="6568179" y="0"/>
                </a:lnTo>
                <a:lnTo>
                  <a:pt x="6568309" y="1"/>
                </a:lnTo>
                <a:lnTo>
                  <a:pt x="6562951" y="30700"/>
                </a:lnTo>
                <a:cubicBezTo>
                  <a:pt x="6559126" y="84364"/>
                  <a:pt x="6548218" y="241149"/>
                  <a:pt x="6547446" y="310025"/>
                </a:cubicBezTo>
                <a:cubicBezTo>
                  <a:pt x="6550151" y="367544"/>
                  <a:pt x="6557712" y="408251"/>
                  <a:pt x="6558316" y="443960"/>
                </a:cubicBezTo>
                <a:cubicBezTo>
                  <a:pt x="6555224" y="499397"/>
                  <a:pt x="6534767" y="604434"/>
                  <a:pt x="6528896" y="642659"/>
                </a:cubicBezTo>
                <a:cubicBezTo>
                  <a:pt x="6535204" y="657287"/>
                  <a:pt x="6515365" y="658191"/>
                  <a:pt x="6523095" y="673307"/>
                </a:cubicBezTo>
                <a:cubicBezTo>
                  <a:pt x="6523388" y="693769"/>
                  <a:pt x="6506868" y="797295"/>
                  <a:pt x="6496169" y="839641"/>
                </a:cubicBezTo>
                <a:cubicBezTo>
                  <a:pt x="6484119" y="887148"/>
                  <a:pt x="6457817" y="937731"/>
                  <a:pt x="6450789" y="958357"/>
                </a:cubicBezTo>
                <a:cubicBezTo>
                  <a:pt x="6443760" y="978983"/>
                  <a:pt x="6459217" y="936930"/>
                  <a:pt x="6453996" y="963398"/>
                </a:cubicBezTo>
                <a:cubicBezTo>
                  <a:pt x="6448777" y="989867"/>
                  <a:pt x="6425575" y="1087010"/>
                  <a:pt x="6419467" y="1117169"/>
                </a:cubicBezTo>
                <a:cubicBezTo>
                  <a:pt x="6431540" y="1118586"/>
                  <a:pt x="6409651" y="1135372"/>
                  <a:pt x="6417348" y="1144352"/>
                </a:cubicBezTo>
                <a:cubicBezTo>
                  <a:pt x="6424109" y="1150681"/>
                  <a:pt x="6419047" y="1157251"/>
                  <a:pt x="6418473" y="1164484"/>
                </a:cubicBezTo>
                <a:cubicBezTo>
                  <a:pt x="6423767" y="1173524"/>
                  <a:pt x="6413947" y="1205209"/>
                  <a:pt x="6406979" y="1213829"/>
                </a:cubicBezTo>
                <a:cubicBezTo>
                  <a:pt x="6382818" y="1235037"/>
                  <a:pt x="6400452" y="1277327"/>
                  <a:pt x="6381928" y="1294823"/>
                </a:cubicBezTo>
                <a:cubicBezTo>
                  <a:pt x="6379195" y="1300845"/>
                  <a:pt x="6378069" y="1306615"/>
                  <a:pt x="6377948" y="1312193"/>
                </a:cubicBezTo>
                <a:lnTo>
                  <a:pt x="6379894" y="1327626"/>
                </a:lnTo>
                <a:lnTo>
                  <a:pt x="6385024" y="1331644"/>
                </a:lnTo>
                <a:lnTo>
                  <a:pt x="6383696" y="1341276"/>
                </a:lnTo>
                <a:cubicBezTo>
                  <a:pt x="6383952" y="1342166"/>
                  <a:pt x="6384208" y="1343055"/>
                  <a:pt x="6384464" y="1343945"/>
                </a:cubicBezTo>
                <a:cubicBezTo>
                  <a:pt x="6385957" y="1349040"/>
                  <a:pt x="6387253" y="1354080"/>
                  <a:pt x="6387748" y="1359134"/>
                </a:cubicBezTo>
                <a:cubicBezTo>
                  <a:pt x="6384363" y="1373109"/>
                  <a:pt x="6372802" y="1397612"/>
                  <a:pt x="6364157" y="1427803"/>
                </a:cubicBezTo>
                <a:cubicBezTo>
                  <a:pt x="6348141" y="1460349"/>
                  <a:pt x="6348362" y="1505076"/>
                  <a:pt x="6335874" y="1540278"/>
                </a:cubicBezTo>
                <a:lnTo>
                  <a:pt x="6331892" y="1547262"/>
                </a:lnTo>
                <a:lnTo>
                  <a:pt x="6332744" y="1577056"/>
                </a:lnTo>
                <a:cubicBezTo>
                  <a:pt x="6335859" y="1582205"/>
                  <a:pt x="6336674" y="1589568"/>
                  <a:pt x="6333604" y="1595898"/>
                </a:cubicBezTo>
                <a:lnTo>
                  <a:pt x="6324749" y="1703726"/>
                </a:lnTo>
                <a:cubicBezTo>
                  <a:pt x="6324080" y="1739332"/>
                  <a:pt x="6318019" y="1754453"/>
                  <a:pt x="6329594" y="1809535"/>
                </a:cubicBezTo>
                <a:cubicBezTo>
                  <a:pt x="6344930" y="1868036"/>
                  <a:pt x="6323725" y="1952670"/>
                  <a:pt x="6329062" y="2018310"/>
                </a:cubicBezTo>
                <a:cubicBezTo>
                  <a:pt x="6308075" y="2053162"/>
                  <a:pt x="6326925" y="2034561"/>
                  <a:pt x="6321735" y="2071355"/>
                </a:cubicBezTo>
                <a:lnTo>
                  <a:pt x="6322678" y="2141166"/>
                </a:lnTo>
                <a:lnTo>
                  <a:pt x="6321340" y="2154548"/>
                </a:lnTo>
                <a:lnTo>
                  <a:pt x="6316582" y="2158153"/>
                </a:lnTo>
                <a:lnTo>
                  <a:pt x="6311428" y="2178174"/>
                </a:lnTo>
                <a:cubicBezTo>
                  <a:pt x="6310177" y="2185696"/>
                  <a:pt x="6309622" y="2193828"/>
                  <a:pt x="6310192" y="2202858"/>
                </a:cubicBezTo>
                <a:cubicBezTo>
                  <a:pt x="6319667" y="2232772"/>
                  <a:pt x="6296459" y="2283357"/>
                  <a:pt x="6309211" y="2320214"/>
                </a:cubicBezTo>
                <a:cubicBezTo>
                  <a:pt x="6307537" y="2355906"/>
                  <a:pt x="6302490" y="2394678"/>
                  <a:pt x="6300151" y="2417011"/>
                </a:cubicBezTo>
                <a:cubicBezTo>
                  <a:pt x="6292303" y="2426377"/>
                  <a:pt x="6304439" y="2456509"/>
                  <a:pt x="6295176" y="2454207"/>
                </a:cubicBezTo>
                <a:cubicBezTo>
                  <a:pt x="6299335" y="2464947"/>
                  <a:pt x="6297305" y="2476105"/>
                  <a:pt x="6293727" y="2487203"/>
                </a:cubicBezTo>
                <a:lnTo>
                  <a:pt x="6285477" y="2512282"/>
                </a:lnTo>
                <a:cubicBezTo>
                  <a:pt x="6285720" y="2512961"/>
                  <a:pt x="6285962" y="2513640"/>
                  <a:pt x="6286205" y="2514318"/>
                </a:cubicBezTo>
                <a:cubicBezTo>
                  <a:pt x="6292347" y="2534324"/>
                  <a:pt x="6298487" y="2554328"/>
                  <a:pt x="6304629" y="2574334"/>
                </a:cubicBezTo>
                <a:lnTo>
                  <a:pt x="6303842" y="2579877"/>
                </a:lnTo>
                <a:cubicBezTo>
                  <a:pt x="6303729" y="2585644"/>
                  <a:pt x="6304006" y="2603388"/>
                  <a:pt x="6303953" y="2608928"/>
                </a:cubicBezTo>
                <a:lnTo>
                  <a:pt x="6303530" y="2613111"/>
                </a:lnTo>
                <a:lnTo>
                  <a:pt x="6297474" y="2621996"/>
                </a:lnTo>
                <a:lnTo>
                  <a:pt x="6299263" y="2634265"/>
                </a:lnTo>
                <a:lnTo>
                  <a:pt x="6293065" y="2647237"/>
                </a:lnTo>
                <a:cubicBezTo>
                  <a:pt x="6294685" y="2648158"/>
                  <a:pt x="6296180" y="2649356"/>
                  <a:pt x="6297496" y="2650786"/>
                </a:cubicBezTo>
                <a:lnTo>
                  <a:pt x="6301708" y="2661993"/>
                </a:lnTo>
                <a:lnTo>
                  <a:pt x="6295884" y="2670949"/>
                </a:lnTo>
                <a:cubicBezTo>
                  <a:pt x="6304913" y="2672007"/>
                  <a:pt x="6294429" y="2681695"/>
                  <a:pt x="6291714" y="2690255"/>
                </a:cubicBezTo>
                <a:lnTo>
                  <a:pt x="6292327" y="2695683"/>
                </a:lnTo>
                <a:lnTo>
                  <a:pt x="6284410" y="2713964"/>
                </a:lnTo>
                <a:lnTo>
                  <a:pt x="6280410" y="2730175"/>
                </a:lnTo>
                <a:lnTo>
                  <a:pt x="6288082" y="2763497"/>
                </a:lnTo>
                <a:lnTo>
                  <a:pt x="6260924" y="3051539"/>
                </a:lnTo>
                <a:cubicBezTo>
                  <a:pt x="6251455" y="3165645"/>
                  <a:pt x="6222174" y="3216611"/>
                  <a:pt x="6210151" y="3335396"/>
                </a:cubicBezTo>
                <a:lnTo>
                  <a:pt x="6212034" y="3456509"/>
                </a:lnTo>
                <a:lnTo>
                  <a:pt x="6197490" y="3531827"/>
                </a:lnTo>
                <a:lnTo>
                  <a:pt x="6208018" y="3570877"/>
                </a:lnTo>
                <a:lnTo>
                  <a:pt x="6205920" y="3583849"/>
                </a:lnTo>
                <a:lnTo>
                  <a:pt x="6199616" y="3592763"/>
                </a:lnTo>
                <a:cubicBezTo>
                  <a:pt x="6191839" y="3613948"/>
                  <a:pt x="6196204" y="3641245"/>
                  <a:pt x="6181288" y="3653485"/>
                </a:cubicBezTo>
                <a:cubicBezTo>
                  <a:pt x="6178087" y="3659316"/>
                  <a:pt x="6176516" y="3664985"/>
                  <a:pt x="6175963" y="3670528"/>
                </a:cubicBezTo>
                <a:lnTo>
                  <a:pt x="6176722" y="3685990"/>
                </a:lnTo>
                <a:lnTo>
                  <a:pt x="6181549" y="3690283"/>
                </a:lnTo>
                <a:lnTo>
                  <a:pt x="6179476" y="3699787"/>
                </a:lnTo>
                <a:cubicBezTo>
                  <a:pt x="6179664" y="3700686"/>
                  <a:pt x="6179852" y="3701586"/>
                  <a:pt x="6180040" y="3702486"/>
                </a:cubicBezTo>
                <a:cubicBezTo>
                  <a:pt x="6181140" y="3707637"/>
                  <a:pt x="6182047" y="3712728"/>
                  <a:pt x="6182155" y="3717784"/>
                </a:cubicBezTo>
                <a:cubicBezTo>
                  <a:pt x="6156678" y="3711701"/>
                  <a:pt x="6178864" y="3759789"/>
                  <a:pt x="6158980" y="3746229"/>
                </a:cubicBezTo>
                <a:cubicBezTo>
                  <a:pt x="6144630" y="3780750"/>
                  <a:pt x="6117520" y="3867558"/>
                  <a:pt x="6096049" y="3924910"/>
                </a:cubicBezTo>
                <a:lnTo>
                  <a:pt x="6069712" y="3989353"/>
                </a:lnTo>
                <a:lnTo>
                  <a:pt x="6067330" y="4033899"/>
                </a:lnTo>
                <a:cubicBezTo>
                  <a:pt x="6065506" y="4070470"/>
                  <a:pt x="6063599" y="4110146"/>
                  <a:pt x="6061081" y="4142250"/>
                </a:cubicBezTo>
                <a:cubicBezTo>
                  <a:pt x="6055260" y="4200007"/>
                  <a:pt x="6045907" y="4278998"/>
                  <a:pt x="6042858" y="4329442"/>
                </a:cubicBezTo>
                <a:cubicBezTo>
                  <a:pt x="6038376" y="4381764"/>
                  <a:pt x="6036461" y="4433012"/>
                  <a:pt x="6034182" y="4456184"/>
                </a:cubicBezTo>
                <a:lnTo>
                  <a:pt x="6029178" y="4468478"/>
                </a:lnTo>
                <a:lnTo>
                  <a:pt x="6029974" y="4469862"/>
                </a:lnTo>
                <a:cubicBezTo>
                  <a:pt x="6031287" y="4476321"/>
                  <a:pt x="6030316" y="4480555"/>
                  <a:pt x="6028340" y="4483797"/>
                </a:cubicBezTo>
                <a:lnTo>
                  <a:pt x="6025168" y="4487091"/>
                </a:lnTo>
                <a:lnTo>
                  <a:pt x="6023164" y="4496728"/>
                </a:lnTo>
                <a:lnTo>
                  <a:pt x="6016839" y="4515918"/>
                </a:lnTo>
                <a:cubicBezTo>
                  <a:pt x="6017189" y="4517049"/>
                  <a:pt x="6017537" y="4518182"/>
                  <a:pt x="6017886" y="4519316"/>
                </a:cubicBezTo>
                <a:lnTo>
                  <a:pt x="6011819" y="4547957"/>
                </a:lnTo>
                <a:lnTo>
                  <a:pt x="6012791" y="4548262"/>
                </a:lnTo>
                <a:cubicBezTo>
                  <a:pt x="6014837" y="4549595"/>
                  <a:pt x="6016087" y="4551811"/>
                  <a:pt x="6015703" y="4555939"/>
                </a:cubicBezTo>
                <a:cubicBezTo>
                  <a:pt x="6031790" y="4548276"/>
                  <a:pt x="6021405" y="4557977"/>
                  <a:pt x="6018854" y="4570815"/>
                </a:cubicBezTo>
                <a:cubicBezTo>
                  <a:pt x="6021736" y="4583801"/>
                  <a:pt x="6030754" y="4622347"/>
                  <a:pt x="6033000" y="4633846"/>
                </a:cubicBezTo>
                <a:lnTo>
                  <a:pt x="6032325" y="4639816"/>
                </a:lnTo>
                <a:lnTo>
                  <a:pt x="6032549" y="4639923"/>
                </a:lnTo>
                <a:cubicBezTo>
                  <a:pt x="6032911" y="4641190"/>
                  <a:pt x="6032878" y="4643141"/>
                  <a:pt x="6032309" y="4646192"/>
                </a:cubicBezTo>
                <a:lnTo>
                  <a:pt x="6031095" y="4650706"/>
                </a:lnTo>
                <a:lnTo>
                  <a:pt x="6029786" y="4662290"/>
                </a:lnTo>
                <a:cubicBezTo>
                  <a:pt x="6030161" y="4663587"/>
                  <a:pt x="6030536" y="4664883"/>
                  <a:pt x="6030911" y="4666180"/>
                </a:cubicBezTo>
                <a:lnTo>
                  <a:pt x="6033630" y="4667585"/>
                </a:lnTo>
                <a:lnTo>
                  <a:pt x="6033189" y="4668660"/>
                </a:lnTo>
                <a:cubicBezTo>
                  <a:pt x="6027286" y="4676831"/>
                  <a:pt x="6019767" y="4679345"/>
                  <a:pt x="6038764" y="4689807"/>
                </a:cubicBezTo>
                <a:cubicBezTo>
                  <a:pt x="6028616" y="4708535"/>
                  <a:pt x="6040474" y="4712235"/>
                  <a:pt x="6042217" y="4737890"/>
                </a:cubicBezTo>
                <a:cubicBezTo>
                  <a:pt x="6033362" y="4748600"/>
                  <a:pt x="6035273" y="4757223"/>
                  <a:pt x="6040543" y="4765657"/>
                </a:cubicBezTo>
                <a:cubicBezTo>
                  <a:pt x="6034416" y="4790618"/>
                  <a:pt x="6040696" y="4813399"/>
                  <a:pt x="6039956" y="4841463"/>
                </a:cubicBezTo>
                <a:lnTo>
                  <a:pt x="6057123" y="4969863"/>
                </a:lnTo>
                <a:lnTo>
                  <a:pt x="6055039" y="4974028"/>
                </a:lnTo>
                <a:cubicBezTo>
                  <a:pt x="6053860" y="4976933"/>
                  <a:pt x="6053409" y="4978909"/>
                  <a:pt x="6053462" y="4980318"/>
                </a:cubicBezTo>
                <a:lnTo>
                  <a:pt x="6053643" y="4980501"/>
                </a:lnTo>
                <a:lnTo>
                  <a:pt x="6051733" y="4986338"/>
                </a:lnTo>
                <a:lnTo>
                  <a:pt x="6049602" y="4991296"/>
                </a:lnTo>
                <a:cubicBezTo>
                  <a:pt x="6058123" y="5019829"/>
                  <a:pt x="6066643" y="5048361"/>
                  <a:pt x="6075165" y="5076895"/>
                </a:cubicBezTo>
                <a:lnTo>
                  <a:pt x="6073751" y="5081568"/>
                </a:lnTo>
                <a:cubicBezTo>
                  <a:pt x="6073034" y="5084748"/>
                  <a:pt x="6072888" y="5086810"/>
                  <a:pt x="6073150" y="5088173"/>
                </a:cubicBezTo>
                <a:lnTo>
                  <a:pt x="6073355" y="5088300"/>
                </a:lnTo>
                <a:lnTo>
                  <a:pt x="6072362" y="5094558"/>
                </a:lnTo>
                <a:cubicBezTo>
                  <a:pt x="6070184" y="5105196"/>
                  <a:pt x="6067588" y="5115626"/>
                  <a:pt x="6064726" y="5125620"/>
                </a:cubicBezTo>
                <a:cubicBezTo>
                  <a:pt x="6063568" y="5154527"/>
                  <a:pt x="6065189" y="5244020"/>
                  <a:pt x="6065415" y="5268004"/>
                </a:cubicBezTo>
                <a:cubicBezTo>
                  <a:pt x="6065637" y="5268513"/>
                  <a:pt x="6065860" y="5269021"/>
                  <a:pt x="6066081" y="5269530"/>
                </a:cubicBezTo>
                <a:lnTo>
                  <a:pt x="6043407" y="5390941"/>
                </a:lnTo>
                <a:cubicBezTo>
                  <a:pt x="6032545" y="5438194"/>
                  <a:pt x="6020942" y="5465286"/>
                  <a:pt x="6025377" y="5539927"/>
                </a:cubicBezTo>
                <a:cubicBezTo>
                  <a:pt x="6019787" y="5610775"/>
                  <a:pt x="6013913" y="5740573"/>
                  <a:pt x="6010052" y="5791594"/>
                </a:cubicBezTo>
                <a:cubicBezTo>
                  <a:pt x="5989401" y="5787060"/>
                  <a:pt x="6018524" y="5849672"/>
                  <a:pt x="5994220" y="5855206"/>
                </a:cubicBezTo>
                <a:cubicBezTo>
                  <a:pt x="5995282" y="5860240"/>
                  <a:pt x="5980598" y="5868910"/>
                  <a:pt x="5982580" y="5873582"/>
                </a:cubicBezTo>
                <a:cubicBezTo>
                  <a:pt x="5982922" y="5874401"/>
                  <a:pt x="5983265" y="5875218"/>
                  <a:pt x="5983608" y="5876037"/>
                </a:cubicBezTo>
                <a:lnTo>
                  <a:pt x="5983535" y="5886534"/>
                </a:lnTo>
                <a:lnTo>
                  <a:pt x="5988737" y="5888644"/>
                </a:lnTo>
                <a:cubicBezTo>
                  <a:pt x="5989948" y="5893707"/>
                  <a:pt x="5991159" y="5898769"/>
                  <a:pt x="5992371" y="5903832"/>
                </a:cubicBezTo>
                <a:cubicBezTo>
                  <a:pt x="5992924" y="5909651"/>
                  <a:pt x="5992578" y="5916068"/>
                  <a:pt x="5990780" y="5923391"/>
                </a:cubicBezTo>
                <a:cubicBezTo>
                  <a:pt x="5975822" y="5948880"/>
                  <a:pt x="6013580" y="5981626"/>
                  <a:pt x="5993870" y="6013205"/>
                </a:cubicBezTo>
                <a:cubicBezTo>
                  <a:pt x="5988486" y="6024901"/>
                  <a:pt x="5991718" y="6066777"/>
                  <a:pt x="5997673" y="6074018"/>
                </a:cubicBezTo>
                <a:cubicBezTo>
                  <a:pt x="5998007" y="6081731"/>
                  <a:pt x="6007861" y="6126985"/>
                  <a:pt x="6014840" y="6130837"/>
                </a:cubicBezTo>
                <a:cubicBezTo>
                  <a:pt x="6022998" y="6137057"/>
                  <a:pt x="5999420" y="6156330"/>
                  <a:pt x="6010704" y="6152982"/>
                </a:cubicBezTo>
                <a:cubicBezTo>
                  <a:pt x="6008682" y="6186619"/>
                  <a:pt x="6039938" y="6191636"/>
                  <a:pt x="6038294" y="6221100"/>
                </a:cubicBezTo>
                <a:cubicBezTo>
                  <a:pt x="6039643" y="6222126"/>
                  <a:pt x="6046356" y="6257468"/>
                  <a:pt x="6052331" y="6287550"/>
                </a:cubicBezTo>
                <a:cubicBezTo>
                  <a:pt x="6058307" y="6317632"/>
                  <a:pt x="6082079" y="6391312"/>
                  <a:pt x="6074143" y="6401595"/>
                </a:cubicBezTo>
                <a:cubicBezTo>
                  <a:pt x="6074931" y="6423902"/>
                  <a:pt x="6059614" y="6432919"/>
                  <a:pt x="6060199" y="6487110"/>
                </a:cubicBezTo>
                <a:cubicBezTo>
                  <a:pt x="6075583" y="6574474"/>
                  <a:pt x="6076150" y="6553611"/>
                  <a:pt x="6081156" y="6588589"/>
                </a:cubicBezTo>
                <a:cubicBezTo>
                  <a:pt x="6102088" y="6637976"/>
                  <a:pt x="6067660" y="6687723"/>
                  <a:pt x="6114944" y="6769963"/>
                </a:cubicBezTo>
                <a:cubicBezTo>
                  <a:pt x="6130462" y="6819284"/>
                  <a:pt x="6119243" y="6817955"/>
                  <a:pt x="6128950" y="6835814"/>
                </a:cubicBezTo>
                <a:lnTo>
                  <a:pt x="6132536" y="6858000"/>
                </a:lnTo>
                <a:lnTo>
                  <a:pt x="4789511" y="6858000"/>
                </a:lnTo>
                <a:lnTo>
                  <a:pt x="1866294" y="6858000"/>
                </a:lnTo>
                <a:lnTo>
                  <a:pt x="1705866" y="6858000"/>
                </a:lnTo>
                <a:lnTo>
                  <a:pt x="1343025" y="6858000"/>
                </a:lnTo>
                <a:lnTo>
                  <a:pt x="523269" y="6858000"/>
                </a:lnTo>
                <a:lnTo>
                  <a:pt x="36284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A3917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4"/>
          <p:cNvSpPr txBox="1"/>
          <p:nvPr>
            <p:ph type="title"/>
          </p:nvPr>
        </p:nvSpPr>
        <p:spPr>
          <a:xfrm>
            <a:off x="216100" y="83600"/>
            <a:ext cx="11976000" cy="157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b="1" lang="es-ES"/>
              <a:t>RELACIÓN ENTRE PRODUCCIÓN</a:t>
            </a:r>
            <a:r>
              <a:rPr b="1" lang="es-ES"/>
              <a:t>, EXPORTACIÓN Y CONSUMO</a:t>
            </a:r>
            <a:endParaRPr/>
          </a:p>
        </p:txBody>
      </p:sp>
      <p:sp>
        <p:nvSpPr>
          <p:cNvPr id="228" name="Google Shape;228;p14"/>
          <p:cNvSpPr txBox="1"/>
          <p:nvPr>
            <p:ph idx="1" type="body"/>
          </p:nvPr>
        </p:nvSpPr>
        <p:spPr>
          <a:xfrm>
            <a:off x="1137025" y="2194100"/>
            <a:ext cx="4438200" cy="39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</a:pPr>
            <a:r>
              <a:rPr lang="es-ES" sz="1800"/>
              <a:t>Relación entre </a:t>
            </a:r>
            <a:r>
              <a:rPr b="1" lang="es-ES" sz="1800"/>
              <a:t>producción total</a:t>
            </a:r>
            <a:r>
              <a:rPr lang="es-ES" sz="1800"/>
              <a:t> y </a:t>
            </a:r>
            <a:r>
              <a:rPr b="1" lang="es-ES" sz="1800"/>
              <a:t>exportaciones</a:t>
            </a:r>
            <a:r>
              <a:rPr lang="es-ES" sz="1800"/>
              <a:t> de café por país. El </a:t>
            </a:r>
            <a:r>
              <a:rPr b="1" lang="es-ES" sz="1800"/>
              <a:t>tamaño de los puntos</a:t>
            </a:r>
            <a:r>
              <a:rPr lang="es-ES" sz="1800"/>
              <a:t> refleja el nivel de </a:t>
            </a:r>
            <a:r>
              <a:rPr b="1" lang="es-ES" sz="1800"/>
              <a:t>consumo doméstico</a:t>
            </a:r>
            <a:r>
              <a:rPr lang="es-ES" sz="1800"/>
              <a:t>.</a:t>
            </a:r>
            <a:endParaRPr sz="1800"/>
          </a:p>
          <a:p>
            <a:pPr indent="-2286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s-ES" sz="1800"/>
              <a:t>Los países con mayor producción también concentran </a:t>
            </a:r>
            <a:r>
              <a:rPr b="1" lang="es-ES" sz="1800"/>
              <a:t>más exportaciones</a:t>
            </a:r>
            <a:r>
              <a:rPr lang="es-ES" sz="1800"/>
              <a:t>.</a:t>
            </a:r>
            <a:endParaRPr sz="1800"/>
          </a:p>
          <a:p>
            <a:pPr indent="-2286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s-ES" sz="1800"/>
              <a:t>Su consumo interno es </a:t>
            </a:r>
            <a:r>
              <a:rPr b="1" lang="es-ES" sz="1800"/>
              <a:t>relativamente bajo</a:t>
            </a:r>
            <a:r>
              <a:rPr lang="es-ES" sz="1800"/>
              <a:t>, lo que evidencia una </a:t>
            </a:r>
            <a:r>
              <a:rPr b="1" lang="es-ES" sz="1800"/>
              <a:t>orientación del valor del café hacia el mercado internacional</a:t>
            </a:r>
            <a:r>
              <a:rPr lang="es-ES" sz="1800"/>
              <a:t>.</a:t>
            </a:r>
            <a:endParaRPr sz="1800"/>
          </a:p>
          <a:p>
            <a:pPr indent="-101600" lvl="0" marL="228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</p:txBody>
      </p:sp>
      <p:pic>
        <p:nvPicPr>
          <p:cNvPr id="229" name="Google Shape;22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75525" y="2077425"/>
            <a:ext cx="5408376" cy="414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3"/>
          <p:cNvSpPr/>
          <p:nvPr/>
        </p:nvSpPr>
        <p:spPr>
          <a:xfrm>
            <a:off x="0" y="0"/>
            <a:ext cx="5653438" cy="6858000"/>
          </a:xfrm>
          <a:custGeom>
            <a:rect b="b" l="l" r="r" t="t"/>
            <a:pathLst>
              <a:path extrusionOk="0" h="6858000" w="6096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727D7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3"/>
          <p:cNvSpPr txBox="1"/>
          <p:nvPr>
            <p:ph type="title"/>
          </p:nvPr>
        </p:nvSpPr>
        <p:spPr>
          <a:xfrm>
            <a:off x="1214250" y="58000"/>
            <a:ext cx="9763500" cy="151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2474"/>
              <a:buFont typeface="Play"/>
              <a:buNone/>
            </a:pPr>
            <a:r>
              <a:rPr b="1" lang="es-ES" sz="4850"/>
              <a:t>PRODUCCIÓN</a:t>
            </a:r>
            <a:r>
              <a:rPr b="1" lang="es-ES" sz="4850"/>
              <a:t> VS. </a:t>
            </a:r>
            <a:r>
              <a:rPr b="1" lang="es-ES" sz="4850"/>
              <a:t>EXPORTACIÓN</a:t>
            </a:r>
            <a:endParaRPr b="1" sz="485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42857"/>
              <a:buFont typeface="Play"/>
              <a:buNone/>
            </a:pPr>
            <a:br>
              <a:rPr lang="es-ES" sz="2800"/>
            </a:br>
            <a:endParaRPr sz="2800"/>
          </a:p>
        </p:txBody>
      </p:sp>
      <p:sp>
        <p:nvSpPr>
          <p:cNvPr id="237" name="Google Shape;237;p13"/>
          <p:cNvSpPr txBox="1"/>
          <p:nvPr>
            <p:ph idx="1" type="body"/>
          </p:nvPr>
        </p:nvSpPr>
        <p:spPr>
          <a:xfrm>
            <a:off x="862375" y="1745675"/>
            <a:ext cx="3707700" cy="46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0000"/>
          </a:bodyPr>
          <a:lstStyle/>
          <a:p>
            <a:pPr indent="-228600" lvl="0" marL="228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s-ES" sz="4500">
                <a:solidFill>
                  <a:schemeClr val="lt1"/>
                </a:solidFill>
              </a:rPr>
              <a:t>Los países con mayor producción suelen </a:t>
            </a:r>
            <a:r>
              <a:rPr b="1" lang="es-ES" sz="4500">
                <a:solidFill>
                  <a:schemeClr val="lt1"/>
                </a:solidFill>
              </a:rPr>
              <a:t>exportar mayores volúmenes</a:t>
            </a:r>
            <a:r>
              <a:rPr lang="es-ES" sz="4500">
                <a:solidFill>
                  <a:schemeClr val="lt1"/>
                </a:solidFill>
              </a:rPr>
              <a:t>.</a:t>
            </a:r>
            <a:endParaRPr sz="4500">
              <a:solidFill>
                <a:schemeClr val="lt1"/>
              </a:solidFill>
            </a:endParaRPr>
          </a:p>
          <a:p>
            <a:pPr indent="-2286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s-ES" sz="4500">
                <a:solidFill>
                  <a:schemeClr val="lt1"/>
                </a:solidFill>
              </a:rPr>
              <a:t>Los </a:t>
            </a:r>
            <a:r>
              <a:rPr b="1" lang="es-ES" sz="4500">
                <a:solidFill>
                  <a:schemeClr val="lt1"/>
                </a:solidFill>
              </a:rPr>
              <a:t>outliers</a:t>
            </a:r>
            <a:r>
              <a:rPr lang="es-ES" sz="4500">
                <a:solidFill>
                  <a:schemeClr val="lt1"/>
                </a:solidFill>
              </a:rPr>
              <a:t> revelan un mercado dominado por unos pocos países con volúmenes </a:t>
            </a:r>
            <a:r>
              <a:rPr b="1" lang="es-ES" sz="4500">
                <a:solidFill>
                  <a:schemeClr val="lt1"/>
                </a:solidFill>
              </a:rPr>
              <a:t>extraordinariamente altos</a:t>
            </a:r>
            <a:r>
              <a:rPr lang="es-ES" sz="4500">
                <a:solidFill>
                  <a:schemeClr val="lt1"/>
                </a:solidFill>
              </a:rPr>
              <a:t>.</a:t>
            </a:r>
            <a:endParaRPr sz="4500">
              <a:solidFill>
                <a:schemeClr val="lt1"/>
              </a:solidFill>
            </a:endParaRPr>
          </a:p>
          <a:p>
            <a:pPr indent="-2286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s-ES" sz="4500">
                <a:solidFill>
                  <a:schemeClr val="lt1"/>
                </a:solidFill>
              </a:rPr>
              <a:t>La mayoría de los países se sitúa en niveles de exportación </a:t>
            </a:r>
            <a:r>
              <a:rPr b="1" lang="es-ES" sz="4500">
                <a:solidFill>
                  <a:schemeClr val="lt1"/>
                </a:solidFill>
              </a:rPr>
              <a:t>mucho más bajos</a:t>
            </a:r>
            <a:r>
              <a:rPr lang="es-ES" sz="4500">
                <a:solidFill>
                  <a:schemeClr val="lt1"/>
                </a:solidFill>
              </a:rPr>
              <a:t>, evidenciando una </a:t>
            </a:r>
            <a:r>
              <a:rPr b="1" lang="es-ES" sz="4500">
                <a:solidFill>
                  <a:schemeClr val="lt1"/>
                </a:solidFill>
              </a:rPr>
              <a:t>desigualdad en la estructura del mercado</a:t>
            </a:r>
            <a:r>
              <a:rPr lang="es-ES" sz="4500">
                <a:solidFill>
                  <a:schemeClr val="lt1"/>
                </a:solidFill>
              </a:rPr>
              <a:t>.</a:t>
            </a:r>
            <a:endParaRPr sz="45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11112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000"/>
          </a:p>
        </p:txBody>
      </p:sp>
      <p:pic>
        <p:nvPicPr>
          <p:cNvPr id="238" name="Google Shape;23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32238" y="1457900"/>
            <a:ext cx="6581775" cy="520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b4996cd242_0_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g3b4996cd242_0_16"/>
          <p:cNvSpPr/>
          <p:nvPr/>
        </p:nvSpPr>
        <p:spPr>
          <a:xfrm>
            <a:off x="0" y="0"/>
            <a:ext cx="5654040" cy="6858000"/>
          </a:xfrm>
          <a:custGeom>
            <a:rect b="b" l="l" r="r" t="t"/>
            <a:pathLst>
              <a:path extrusionOk="0" h="6858000" w="6096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727D7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g3b4996cd242_0_16"/>
          <p:cNvSpPr txBox="1"/>
          <p:nvPr>
            <p:ph type="title"/>
          </p:nvPr>
        </p:nvSpPr>
        <p:spPr>
          <a:xfrm>
            <a:off x="2812650" y="0"/>
            <a:ext cx="6566700" cy="151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2474"/>
              <a:buFont typeface="Play"/>
              <a:buNone/>
            </a:pPr>
            <a:r>
              <a:rPr b="1" lang="es-ES" sz="4850"/>
              <a:t>ARÁBICA</a:t>
            </a:r>
            <a:r>
              <a:rPr b="1" lang="es-ES" sz="4850"/>
              <a:t> VS. ROBUSTA</a:t>
            </a:r>
            <a:endParaRPr b="1" sz="485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42857"/>
              <a:buFont typeface="Play"/>
              <a:buNone/>
            </a:pPr>
            <a:br>
              <a:rPr lang="es-ES" sz="2800"/>
            </a:br>
            <a:endParaRPr sz="2800"/>
          </a:p>
        </p:txBody>
      </p:sp>
      <p:sp>
        <p:nvSpPr>
          <p:cNvPr id="246" name="Google Shape;246;g3b4996cd242_0_16"/>
          <p:cNvSpPr txBox="1"/>
          <p:nvPr>
            <p:ph idx="1" type="body"/>
          </p:nvPr>
        </p:nvSpPr>
        <p:spPr>
          <a:xfrm>
            <a:off x="268100" y="1211350"/>
            <a:ext cx="4302000" cy="54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b="1" lang="es-ES" sz="1800">
                <a:solidFill>
                  <a:schemeClr val="lt1"/>
                </a:solidFill>
              </a:rPr>
              <a:t>Arabica</a:t>
            </a:r>
            <a:r>
              <a:rPr lang="es-ES" sz="1800">
                <a:solidFill>
                  <a:schemeClr val="lt1"/>
                </a:solidFill>
              </a:rPr>
              <a:t> mantiene el liderazgo durante t</a:t>
            </a:r>
            <a:r>
              <a:rPr lang="es-ES" sz="1800">
                <a:solidFill>
                  <a:schemeClr val="lt1"/>
                </a:solidFill>
              </a:rPr>
              <a:t>odo el período</a:t>
            </a:r>
            <a:r>
              <a:rPr lang="es-ES" sz="1800">
                <a:solidFill>
                  <a:schemeClr val="lt1"/>
                </a:solidFill>
              </a:rPr>
              <a:t>, aunque muestra </a:t>
            </a:r>
            <a:r>
              <a:rPr b="1" lang="es-ES" sz="1800">
                <a:solidFill>
                  <a:schemeClr val="lt1"/>
                </a:solidFill>
              </a:rPr>
              <a:t>mayores fluctuaciones</a:t>
            </a:r>
            <a:r>
              <a:rPr lang="es-ES" sz="1800">
                <a:solidFill>
                  <a:schemeClr val="lt1"/>
                </a:solidFill>
              </a:rPr>
              <a:t>, probablemente ligadas a su </a:t>
            </a:r>
            <a:r>
              <a:rPr b="1" lang="es-ES" sz="1800">
                <a:solidFill>
                  <a:schemeClr val="lt1"/>
                </a:solidFill>
              </a:rPr>
              <a:t>mayor sensibilidad climática</a:t>
            </a:r>
            <a:r>
              <a:rPr lang="es-ES" sz="1800">
                <a:solidFill>
                  <a:schemeClr val="lt1"/>
                </a:solidFill>
              </a:rPr>
              <a:t>. 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b="1" lang="es-ES" sz="1800">
                <a:solidFill>
                  <a:schemeClr val="lt1"/>
                </a:solidFill>
              </a:rPr>
              <a:t>Robusta</a:t>
            </a:r>
            <a:r>
              <a:rPr lang="es-ES" sz="1800">
                <a:solidFill>
                  <a:schemeClr val="lt1"/>
                </a:solidFill>
              </a:rPr>
              <a:t> crece de forma </a:t>
            </a:r>
            <a:r>
              <a:rPr b="1" lang="es-ES" sz="1800">
                <a:solidFill>
                  <a:schemeClr val="lt1"/>
                </a:solidFill>
              </a:rPr>
              <a:t>más estable y sostenida</a:t>
            </a:r>
            <a:r>
              <a:rPr lang="es-ES" sz="1800">
                <a:solidFill>
                  <a:schemeClr val="lt1"/>
                </a:solidFill>
              </a:rPr>
              <a:t>, aunque siempre por debajo de </a:t>
            </a:r>
            <a:r>
              <a:rPr lang="es-ES" sz="1800">
                <a:solidFill>
                  <a:schemeClr val="lt1"/>
                </a:solidFill>
              </a:rPr>
              <a:t>Arábica</a:t>
            </a:r>
            <a:r>
              <a:rPr lang="es-ES" sz="1800">
                <a:solidFill>
                  <a:schemeClr val="lt1"/>
                </a:solidFill>
              </a:rPr>
              <a:t>.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s-ES" sz="1800">
                <a:solidFill>
                  <a:schemeClr val="lt1"/>
                </a:solidFill>
              </a:rPr>
              <a:t>Ambos tipos presentan una </a:t>
            </a:r>
            <a:r>
              <a:rPr b="1" lang="es-ES" sz="1800">
                <a:solidFill>
                  <a:schemeClr val="lt1"/>
                </a:solidFill>
              </a:rPr>
              <a:t>tendencia claramente ascendente</a:t>
            </a:r>
            <a:r>
              <a:rPr lang="es-ES" sz="1800">
                <a:solidFill>
                  <a:schemeClr val="lt1"/>
                </a:solidFill>
              </a:rPr>
              <a:t>, reflejando el </a:t>
            </a:r>
            <a:r>
              <a:rPr b="1" lang="es-ES" sz="1800">
                <a:solidFill>
                  <a:schemeClr val="lt1"/>
                </a:solidFill>
              </a:rPr>
              <a:t>aumento global de la demanda</a:t>
            </a:r>
            <a:r>
              <a:rPr lang="es-ES" sz="1800">
                <a:solidFill>
                  <a:schemeClr val="lt1"/>
                </a:solidFill>
              </a:rPr>
              <a:t>.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s-ES" sz="1800">
                <a:solidFill>
                  <a:schemeClr val="lt1"/>
                </a:solidFill>
              </a:rPr>
              <a:t>La diferencia entre ambos se mantiene, pero </a:t>
            </a:r>
            <a:r>
              <a:rPr b="1" lang="es-ES" sz="1800">
                <a:solidFill>
                  <a:schemeClr val="lt1"/>
                </a:solidFill>
              </a:rPr>
              <a:t>Robusta reduce ligeramente la brecha</a:t>
            </a:r>
            <a:r>
              <a:rPr lang="es-ES" sz="1800">
                <a:solidFill>
                  <a:schemeClr val="lt1"/>
                </a:solidFill>
              </a:rPr>
              <a:t> gracias a su resiliencia y su uso industrial.</a:t>
            </a:r>
            <a:endParaRPr sz="2700">
              <a:solidFill>
                <a:schemeClr val="lt1"/>
              </a:solidFill>
            </a:endParaRPr>
          </a:p>
        </p:txBody>
      </p:sp>
      <p:pic>
        <p:nvPicPr>
          <p:cNvPr id="247" name="Google Shape;247;g3b4996cd242_0_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1525" y="1407400"/>
            <a:ext cx="7511800" cy="462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tos gratis : taza de café, vaso, Caff americano, café de diente ..." id="252" name="Google Shape;252;p15"/>
          <p:cNvPicPr preferRelativeResize="0"/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3294150" y="0"/>
            <a:ext cx="8897848" cy="6916001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253" name="Google Shape;253;p15"/>
          <p:cNvSpPr/>
          <p:nvPr/>
        </p:nvSpPr>
        <p:spPr>
          <a:xfrm>
            <a:off x="3050" y="0"/>
            <a:ext cx="3291000" cy="691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5"/>
          <p:cNvSpPr/>
          <p:nvPr/>
        </p:nvSpPr>
        <p:spPr>
          <a:xfrm>
            <a:off x="0" y="0"/>
            <a:ext cx="7390200" cy="69159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9000">
                <a:srgbClr val="FFFFFF">
                  <a:alpha val="37647"/>
                </a:srgbClr>
              </a:gs>
              <a:gs pos="35000">
                <a:srgbClr val="FFFFFF">
                  <a:alpha val="76862"/>
                </a:srgbClr>
              </a:gs>
              <a:gs pos="48000">
                <a:schemeClr val="lt1"/>
              </a:gs>
              <a:gs pos="100000">
                <a:schemeClr val="lt1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5"/>
          <p:cNvSpPr txBox="1"/>
          <p:nvPr>
            <p:ph type="title"/>
          </p:nvPr>
        </p:nvSpPr>
        <p:spPr>
          <a:xfrm>
            <a:off x="838150" y="875725"/>
            <a:ext cx="4467300" cy="133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b="1" lang="es-ES"/>
              <a:t>CONCLUSIONES</a:t>
            </a:r>
            <a:endParaRPr b="1" sz="4800"/>
          </a:p>
        </p:txBody>
      </p:sp>
      <p:sp>
        <p:nvSpPr>
          <p:cNvPr id="256" name="Google Shape;256;p15"/>
          <p:cNvSpPr txBox="1"/>
          <p:nvPr>
            <p:ph idx="1" type="body"/>
          </p:nvPr>
        </p:nvSpPr>
        <p:spPr>
          <a:xfrm>
            <a:off x="838200" y="2434200"/>
            <a:ext cx="7922100" cy="37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</a:pPr>
            <a:r>
              <a:rPr lang="es-ES" sz="1800"/>
              <a:t>El mercado global del café muestra una </a:t>
            </a:r>
            <a:r>
              <a:rPr b="1" lang="es-ES" sz="1800"/>
              <a:t>alta concentración del valor económico</a:t>
            </a:r>
            <a:r>
              <a:rPr lang="es-ES" sz="1800"/>
              <a:t>. La </a:t>
            </a:r>
            <a:r>
              <a:rPr b="1" lang="es-ES" sz="1800"/>
              <a:t>producción</a:t>
            </a:r>
            <a:r>
              <a:rPr lang="es-ES" sz="1800"/>
              <a:t>, el </a:t>
            </a:r>
            <a:r>
              <a:rPr b="1" lang="es-ES" sz="1800"/>
              <a:t>consumo</a:t>
            </a:r>
            <a:r>
              <a:rPr lang="es-ES" sz="1800"/>
              <a:t> y el </a:t>
            </a:r>
            <a:r>
              <a:rPr b="1" lang="es-ES" sz="1800"/>
              <a:t>comercio internacional</a:t>
            </a:r>
            <a:r>
              <a:rPr lang="es-ES" sz="1800"/>
              <a:t> están dominados por un grupo reducido de países.</a:t>
            </a:r>
            <a:endParaRPr sz="1800"/>
          </a:p>
          <a:p>
            <a:pPr indent="0" lvl="0" marL="228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228600" lvl="0" marL="228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</a:pPr>
            <a:r>
              <a:rPr lang="es-ES" sz="1800"/>
              <a:t>Esto revela una </a:t>
            </a:r>
            <a:r>
              <a:rPr b="1" lang="es-ES" sz="1800"/>
              <a:t>distribución desigual</a:t>
            </a:r>
            <a:r>
              <a:rPr lang="es-ES" sz="1800"/>
              <a:t> del valor del café.</a:t>
            </a:r>
            <a:endParaRPr sz="1800"/>
          </a:p>
          <a:p>
            <a:pPr indent="0" lvl="0" marL="228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228600" lvl="0" marL="228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</a:pPr>
            <a:r>
              <a:rPr lang="es-ES" sz="1800"/>
              <a:t>Los principales productores presentan una </a:t>
            </a:r>
            <a:r>
              <a:rPr b="1" lang="es-ES" sz="1800"/>
              <a:t>fuerte orientación exportadora</a:t>
            </a:r>
            <a:r>
              <a:rPr lang="es-ES" sz="1800"/>
              <a:t>, reforzando esta estructura concentrada.</a:t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2025-12-16T08:44:30Z</dcterms:created>
  <dc:creator>Diana Hoyos Toscano</dc:creator>
</cp:coreProperties>
</file>